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ScubaLens AI. Every federal agency now has to scan Microsoft 365 against CISA SCuBA baselines. Other tools document what is wrong. ScubaLens closes it: a tested, reversible fix for each failed control, with a human approving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 25-01 made ScubaGear mandatory. The deadlines have passed, and agencies are expected to keep remediating as baselines change. Scanning is automated. Fixing is still manual: research, write PowerShell, test, deploy, re-scan, for every control and every tenant. On CISA's own sample tenant that is 14 failing required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SCuBA tools, including strong OSCAL compilers, turn scan results into documents and answers. That work is valuable, and we complement it: ScubaLens also exports validated OSCAL. But they stop at a plan. ScubaLens is the step after the plan: a tested fix, human approval, safe rollout, and a re-scan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Scan with ScubaGear. Mask personal data before anything reaches AI. Match each failure to a pre-approved, tested template: the AI never writes free-form code. An engineer approves. The fix deploys in Report-Only mode or saves a rollback file first. A re-scan verifies it, and the results export as OSCAL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CISA's own published sample report, not our demo data. 92 policies, 14 failing required controls. ScubaLens has approved, tested templates for 5 of them. The other 9 are routed to an engineer, because we will not let AI write untested changes to a federal tenant. Agencies can import their own results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here is not a promise, it is tested. Personal data is masked before the AI sees it. The groundedness guardrail blocks false compliance claims. 42 automated tests check every fix stays safe, and in the live demo I change a fix to enforce immediately and the safety gate blocks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Masked scan data lands in Microsoft Fabric. A Fabric IQ ontology links controls to products, owners and fixes. Foundry IQ runs agentic retrieval over that ontology plus the baselines and approved templates, so every answer is cited. Entra ID, Key Vault and Purview handle identity and governance. The app labels each step honestly: working in the prototype, or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changed during the week. We first planned a compliance chatbot, but every other team was converting reports or answering questions. The real bottleneck was the fix. We learned that templates beat AI-written code for federal systems, that real CISA data changed our numbers and made us more honest, and that tests, not promises, are what make Responsible AI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ROI is a model with stated assumptions, not a measurement. The real benefit is faster closure of the controls attackers use most. To be clear on scope: this is a working prototype with real scripts and real CISA data; the Azure back end is designed and is next. Closing line: ScubaLens turns SCuBA from a compliance report into continuous, verified hardening. Try it live at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laireluisa.github.io/ScubaLens-AI/" TargetMode="External"/><Relationship Id="rId2" Type="http://schemas.openxmlformats.org/officeDocument/2006/relationships/hyperlink" Target="https://github.com/Claireluisa/ScubaLens-AI"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6"/>
        </a:solidFill>
      </p:bgPr>
    </p:bg>
    <p:spTree>
      <p:nvGrpSpPr>
        <p:cNvPr id="1" name=""/>
        <p:cNvGrpSpPr/>
        <p:nvPr/>
      </p:nvGrpSpPr>
      <p:grpSpPr>
        <a:xfrm>
          <a:off x="0" y="0"/>
          <a:ext cx="0" cy="0"/>
          <a:chOff x="0" y="0"/>
          <a:chExt cx="0" cy="0"/>
        </a:xfrm>
      </p:grpSpPr>
      <p:pic>
        <p:nvPicPr>
          <p:cNvPr id="2" name="Image 0" descr="/mnt/user-data/outputs/ScubaLens-AI/docs/cov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94944" y="5806440"/>
            <a:ext cx="105156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Claire Perrault  ·  George Mason University  ·  Microsoft &amp; CCI Innovation Challenge for Virginia 2026  ·  SCuBA Security Application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Scanning is automated. Fixing isn't.</a:t>
            </a:r>
            <a:endParaRPr lang="en-US" sz="3400" dirty="0"/>
          </a:p>
        </p:txBody>
      </p:sp>
      <p:sp>
        <p:nvSpPr>
          <p:cNvPr id="4" name="Text 2"/>
          <p:cNvSpPr txBox="1"/>
          <p:nvPr/>
        </p:nvSpPr>
        <p:spPr>
          <a:xfrm>
            <a:off x="548640" y="1463040"/>
            <a:ext cx="658368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CISA BOD 25-01 made SCuBA mandatory for every federal civilian agency, and it expects deviations to keep being fixed as the baselines evolve.</a:t>
            </a:r>
            <a:endParaRPr lang="en-US" sz="1700" dirty="0"/>
          </a:p>
        </p:txBody>
      </p:sp>
      <p:sp>
        <p:nvSpPr>
          <p:cNvPr id="5" name="Shape 3"/>
          <p:cNvSpPr/>
          <p:nvPr/>
        </p:nvSpPr>
        <p:spPr>
          <a:xfrm>
            <a:off x="685800" y="2651760"/>
            <a:ext cx="6035040" cy="0"/>
          </a:xfrm>
          <a:prstGeom prst="line">
            <a:avLst/>
          </a:prstGeom>
          <a:noFill/>
          <a:ln w="25400">
            <a:solidFill>
              <a:srgbClr val="222B3B"/>
            </a:solidFill>
            <a:prstDash val="solid"/>
          </a:ln>
        </p:spPr>
      </p:sp>
      <p:sp>
        <p:nvSpPr>
          <p:cNvPr id="6" name="Shape 4"/>
          <p:cNvSpPr/>
          <p:nvPr/>
        </p:nvSpPr>
        <p:spPr>
          <a:xfrm>
            <a:off x="548640" y="2514600"/>
            <a:ext cx="274320" cy="274320"/>
          </a:xfrm>
          <a:prstGeom prst="ellipse">
            <a:avLst/>
          </a:prstGeom>
          <a:solidFill>
            <a:srgbClr val="161D2B"/>
          </a:solidFill>
          <a:ln w="19050">
            <a:solidFill>
              <a:srgbClr val="A78BFA"/>
            </a:solidFill>
            <a:prstDash val="solid"/>
          </a:ln>
        </p:spPr>
      </p:sp>
      <p:sp>
        <p:nvSpPr>
          <p:cNvPr id="7" name="Text 5"/>
          <p:cNvSpPr txBox="1"/>
          <p:nvPr/>
        </p:nvSpPr>
        <p:spPr>
          <a:xfrm>
            <a:off x="548640" y="2926080"/>
            <a:ext cx="1600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 2024</a:t>
            </a:r>
            <a:endParaRPr lang="en-US" sz="1400" dirty="0"/>
          </a:p>
        </p:txBody>
      </p:sp>
      <p:sp>
        <p:nvSpPr>
          <p:cNvPr id="8" name="Text 6"/>
          <p:cNvSpPr txBox="1"/>
          <p:nvPr/>
        </p:nvSpPr>
        <p:spPr>
          <a:xfrm>
            <a:off x="548640" y="3200400"/>
            <a:ext cx="160020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BOD 25-01 issued</a:t>
            </a:r>
            <a:endParaRPr lang="en-US" sz="1200" dirty="0"/>
          </a:p>
        </p:txBody>
      </p:sp>
      <p:sp>
        <p:nvSpPr>
          <p:cNvPr id="9" name="Shape 7"/>
          <p:cNvSpPr/>
          <p:nvPr/>
        </p:nvSpPr>
        <p:spPr>
          <a:xfrm>
            <a:off x="2194560" y="2514600"/>
            <a:ext cx="274320" cy="274320"/>
          </a:xfrm>
          <a:prstGeom prst="ellipse">
            <a:avLst/>
          </a:prstGeom>
          <a:solidFill>
            <a:srgbClr val="161D2B"/>
          </a:solidFill>
          <a:ln w="19050">
            <a:solidFill>
              <a:srgbClr val="A78BFA"/>
            </a:solidFill>
            <a:prstDash val="solid"/>
          </a:ln>
        </p:spPr>
      </p:sp>
      <p:sp>
        <p:nvSpPr>
          <p:cNvPr id="10" name="Text 8"/>
          <p:cNvSpPr txBox="1"/>
          <p:nvPr/>
        </p:nvSpPr>
        <p:spPr>
          <a:xfrm>
            <a:off x="2194560" y="2926080"/>
            <a:ext cx="1600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21 Feb 2025</a:t>
            </a:r>
            <a:endParaRPr lang="en-US" sz="1400" dirty="0"/>
          </a:p>
        </p:txBody>
      </p:sp>
      <p:sp>
        <p:nvSpPr>
          <p:cNvPr id="11" name="Text 9"/>
          <p:cNvSpPr txBox="1"/>
          <p:nvPr/>
        </p:nvSpPr>
        <p:spPr>
          <a:xfrm>
            <a:off x="2194560" y="3200400"/>
            <a:ext cx="160020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Tenants identified</a:t>
            </a:r>
            <a:endParaRPr lang="en-US" sz="1200" dirty="0"/>
          </a:p>
        </p:txBody>
      </p:sp>
      <p:sp>
        <p:nvSpPr>
          <p:cNvPr id="12" name="Shape 10"/>
          <p:cNvSpPr/>
          <p:nvPr/>
        </p:nvSpPr>
        <p:spPr>
          <a:xfrm>
            <a:off x="3840480" y="2514600"/>
            <a:ext cx="274320" cy="274320"/>
          </a:xfrm>
          <a:prstGeom prst="ellipse">
            <a:avLst/>
          </a:prstGeom>
          <a:solidFill>
            <a:srgbClr val="161D2B"/>
          </a:solidFill>
          <a:ln w="19050">
            <a:solidFill>
              <a:srgbClr val="A78BFA"/>
            </a:solidFill>
            <a:prstDash val="solid"/>
          </a:ln>
        </p:spPr>
      </p:sp>
      <p:sp>
        <p:nvSpPr>
          <p:cNvPr id="13" name="Text 11"/>
          <p:cNvSpPr txBox="1"/>
          <p:nvPr/>
        </p:nvSpPr>
        <p:spPr>
          <a:xfrm>
            <a:off x="3840480" y="2926080"/>
            <a:ext cx="1600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25 Apr 2025</a:t>
            </a:r>
            <a:endParaRPr lang="en-US" sz="1400" dirty="0"/>
          </a:p>
        </p:txBody>
      </p:sp>
      <p:sp>
        <p:nvSpPr>
          <p:cNvPr id="14" name="Text 12"/>
          <p:cNvSpPr txBox="1"/>
          <p:nvPr/>
        </p:nvSpPr>
        <p:spPr>
          <a:xfrm>
            <a:off x="3840480" y="3200400"/>
            <a:ext cx="160020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ScubaGear deployed</a:t>
            </a:r>
            <a:endParaRPr lang="en-US" sz="1200" dirty="0"/>
          </a:p>
        </p:txBody>
      </p:sp>
      <p:sp>
        <p:nvSpPr>
          <p:cNvPr id="15" name="Shape 13"/>
          <p:cNvSpPr/>
          <p:nvPr/>
        </p:nvSpPr>
        <p:spPr>
          <a:xfrm>
            <a:off x="5486400" y="2514600"/>
            <a:ext cx="274320" cy="274320"/>
          </a:xfrm>
          <a:prstGeom prst="ellipse">
            <a:avLst/>
          </a:prstGeom>
          <a:solidFill>
            <a:srgbClr val="7C3AED"/>
          </a:solidFill>
          <a:ln w="19050">
            <a:solidFill>
              <a:srgbClr val="A78BFA"/>
            </a:solidFill>
            <a:prstDash val="solid"/>
          </a:ln>
        </p:spPr>
      </p:sp>
      <p:sp>
        <p:nvSpPr>
          <p:cNvPr id="16" name="Text 14"/>
          <p:cNvSpPr txBox="1"/>
          <p:nvPr/>
        </p:nvSpPr>
        <p:spPr>
          <a:xfrm>
            <a:off x="5486400" y="2926080"/>
            <a:ext cx="1600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20 Jun 2025</a:t>
            </a:r>
            <a:endParaRPr lang="en-US" sz="1400" dirty="0"/>
          </a:p>
        </p:txBody>
      </p:sp>
      <p:sp>
        <p:nvSpPr>
          <p:cNvPr id="17" name="Text 15"/>
          <p:cNvSpPr txBox="1"/>
          <p:nvPr/>
        </p:nvSpPr>
        <p:spPr>
          <a:xfrm>
            <a:off x="5486400" y="3200400"/>
            <a:ext cx="160020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Mandatory policies in place</a:t>
            </a:r>
            <a:endParaRPr lang="en-US" sz="1200" dirty="0"/>
          </a:p>
        </p:txBody>
      </p:sp>
      <p:sp>
        <p:nvSpPr>
          <p:cNvPr id="18" name="Text 16"/>
          <p:cNvSpPr txBox="1"/>
          <p:nvPr/>
        </p:nvSpPr>
        <p:spPr>
          <a:xfrm>
            <a:off x="548640" y="3931920"/>
            <a:ext cx="6583680" cy="320040"/>
          </a:xfrm>
          <a:prstGeom prst="rect">
            <a:avLst/>
          </a:prstGeom>
          <a:noFill/>
          <a:ln/>
        </p:spPr>
        <p:txBody>
          <a:bodyPr wrap="square" lIns="0" tIns="0" rIns="0" bIns="0" rtlCol="0" anchor="ctr"/>
          <a:lstStyle/>
          <a:p>
            <a:pPr indent="0" marL="0">
              <a:buNone/>
            </a:pPr>
            <a:r>
              <a:rPr lang="en-US" sz="1500" b="1" dirty="0">
                <a:solidFill>
                  <a:srgbClr val="E2E8F0"/>
                </a:solidFill>
                <a:latin typeface="Calibri" pitchFamily="34" charset="0"/>
                <a:ea typeface="Calibri" pitchFamily="34" charset="-122"/>
                <a:cs typeface="Calibri" pitchFamily="34" charset="-120"/>
              </a:rPr>
              <a:t>Every failed control is still closed by hand:</a:t>
            </a:r>
            <a:endParaRPr lang="en-US" sz="1500" dirty="0"/>
          </a:p>
        </p:txBody>
      </p:sp>
      <p:sp>
        <p:nvSpPr>
          <p:cNvPr id="19" name="Shape 17"/>
          <p:cNvSpPr/>
          <p:nvPr/>
        </p:nvSpPr>
        <p:spPr>
          <a:xfrm>
            <a:off x="548640" y="4389120"/>
            <a:ext cx="1188720" cy="685800"/>
          </a:xfrm>
          <a:prstGeom prst="roundRect">
            <a:avLst>
              <a:gd name="adj" fmla="val 16000"/>
            </a:avLst>
          </a:prstGeom>
          <a:solidFill>
            <a:srgbClr val="161D2B"/>
          </a:solidFill>
          <a:ln w="12700">
            <a:solidFill>
              <a:srgbClr val="222B3B"/>
            </a:solidFill>
            <a:prstDash val="solid"/>
          </a:ln>
        </p:spPr>
      </p:sp>
      <p:sp>
        <p:nvSpPr>
          <p:cNvPr id="20" name="Text 18"/>
          <p:cNvSpPr txBox="1"/>
          <p:nvPr/>
        </p:nvSpPr>
        <p:spPr>
          <a:xfrm>
            <a:off x="548640" y="4389120"/>
            <a:ext cx="1188720" cy="685800"/>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Research</a:t>
            </a:r>
            <a:endParaRPr lang="en-US" sz="1300" dirty="0"/>
          </a:p>
        </p:txBody>
      </p:sp>
      <p:sp>
        <p:nvSpPr>
          <p:cNvPr id="21" name="Shape 19"/>
          <p:cNvSpPr/>
          <p:nvPr/>
        </p:nvSpPr>
        <p:spPr>
          <a:xfrm>
            <a:off x="1901952" y="4389120"/>
            <a:ext cx="1188720" cy="685800"/>
          </a:xfrm>
          <a:prstGeom prst="roundRect">
            <a:avLst>
              <a:gd name="adj" fmla="val 16000"/>
            </a:avLst>
          </a:prstGeom>
          <a:solidFill>
            <a:srgbClr val="161D2B"/>
          </a:solidFill>
          <a:ln w="12700">
            <a:solidFill>
              <a:srgbClr val="222B3B"/>
            </a:solidFill>
            <a:prstDash val="solid"/>
          </a:ln>
        </p:spPr>
      </p:sp>
      <p:sp>
        <p:nvSpPr>
          <p:cNvPr id="22" name="Text 20"/>
          <p:cNvSpPr txBox="1"/>
          <p:nvPr/>
        </p:nvSpPr>
        <p:spPr>
          <a:xfrm>
            <a:off x="1901952" y="4389120"/>
            <a:ext cx="1188720" cy="685800"/>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Write PowerShell</a:t>
            </a:r>
            <a:endParaRPr lang="en-US" sz="1300" dirty="0"/>
          </a:p>
        </p:txBody>
      </p:sp>
      <p:sp>
        <p:nvSpPr>
          <p:cNvPr id="23" name="Shape 21"/>
          <p:cNvSpPr/>
          <p:nvPr/>
        </p:nvSpPr>
        <p:spPr>
          <a:xfrm>
            <a:off x="3255264" y="4389120"/>
            <a:ext cx="1188720" cy="685800"/>
          </a:xfrm>
          <a:prstGeom prst="roundRect">
            <a:avLst>
              <a:gd name="adj" fmla="val 16000"/>
            </a:avLst>
          </a:prstGeom>
          <a:solidFill>
            <a:srgbClr val="161D2B"/>
          </a:solidFill>
          <a:ln w="12700">
            <a:solidFill>
              <a:srgbClr val="222B3B"/>
            </a:solidFill>
            <a:prstDash val="solid"/>
          </a:ln>
        </p:spPr>
      </p:sp>
      <p:sp>
        <p:nvSpPr>
          <p:cNvPr id="24" name="Text 22"/>
          <p:cNvSpPr txBox="1"/>
          <p:nvPr/>
        </p:nvSpPr>
        <p:spPr>
          <a:xfrm>
            <a:off x="3255264" y="4389120"/>
            <a:ext cx="1188720" cy="685800"/>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Test</a:t>
            </a:r>
            <a:endParaRPr lang="en-US" sz="1300" dirty="0"/>
          </a:p>
        </p:txBody>
      </p:sp>
      <p:sp>
        <p:nvSpPr>
          <p:cNvPr id="25" name="Shape 23"/>
          <p:cNvSpPr/>
          <p:nvPr/>
        </p:nvSpPr>
        <p:spPr>
          <a:xfrm>
            <a:off x="4608576" y="4389120"/>
            <a:ext cx="1188720" cy="685800"/>
          </a:xfrm>
          <a:prstGeom prst="roundRect">
            <a:avLst>
              <a:gd name="adj" fmla="val 16000"/>
            </a:avLst>
          </a:prstGeom>
          <a:solidFill>
            <a:srgbClr val="161D2B"/>
          </a:solidFill>
          <a:ln w="12700">
            <a:solidFill>
              <a:srgbClr val="222B3B"/>
            </a:solidFill>
            <a:prstDash val="solid"/>
          </a:ln>
        </p:spPr>
      </p:sp>
      <p:sp>
        <p:nvSpPr>
          <p:cNvPr id="26" name="Text 24"/>
          <p:cNvSpPr txBox="1"/>
          <p:nvPr/>
        </p:nvSpPr>
        <p:spPr>
          <a:xfrm>
            <a:off x="4608576" y="4389120"/>
            <a:ext cx="1188720" cy="685800"/>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Deploy</a:t>
            </a:r>
            <a:endParaRPr lang="en-US" sz="1300" dirty="0"/>
          </a:p>
        </p:txBody>
      </p:sp>
      <p:sp>
        <p:nvSpPr>
          <p:cNvPr id="27" name="Shape 25"/>
          <p:cNvSpPr/>
          <p:nvPr/>
        </p:nvSpPr>
        <p:spPr>
          <a:xfrm>
            <a:off x="5961888" y="4389120"/>
            <a:ext cx="1188720" cy="685800"/>
          </a:xfrm>
          <a:prstGeom prst="roundRect">
            <a:avLst>
              <a:gd name="adj" fmla="val 16000"/>
            </a:avLst>
          </a:prstGeom>
          <a:solidFill>
            <a:srgbClr val="161D2B"/>
          </a:solidFill>
          <a:ln w="12700">
            <a:solidFill>
              <a:srgbClr val="222B3B"/>
            </a:solidFill>
            <a:prstDash val="solid"/>
          </a:ln>
        </p:spPr>
      </p:sp>
      <p:sp>
        <p:nvSpPr>
          <p:cNvPr id="28" name="Text 26"/>
          <p:cNvSpPr txBox="1"/>
          <p:nvPr/>
        </p:nvSpPr>
        <p:spPr>
          <a:xfrm>
            <a:off x="5961888" y="4389120"/>
            <a:ext cx="1188720" cy="685800"/>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Re-scan</a:t>
            </a:r>
            <a:endParaRPr lang="en-US" sz="1300" dirty="0"/>
          </a:p>
        </p:txBody>
      </p:sp>
      <p:sp>
        <p:nvSpPr>
          <p:cNvPr id="29" name="Text 27"/>
          <p:cNvSpPr txBox="1"/>
          <p:nvPr/>
        </p:nvSpPr>
        <p:spPr>
          <a:xfrm>
            <a:off x="548640" y="5257800"/>
            <a:ext cx="658368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One analyst, one control, repeated for every tenant and every scan.</a:t>
            </a:r>
            <a:endParaRPr lang="en-US" sz="1300" dirty="0"/>
          </a:p>
        </p:txBody>
      </p:sp>
      <p:sp>
        <p:nvSpPr>
          <p:cNvPr id="30" name="Shape 28"/>
          <p:cNvSpPr/>
          <p:nvPr/>
        </p:nvSpPr>
        <p:spPr>
          <a:xfrm>
            <a:off x="7680960" y="1463040"/>
            <a:ext cx="3959352" cy="4160520"/>
          </a:xfrm>
          <a:prstGeom prst="roundRect">
            <a:avLst>
              <a:gd name="adj" fmla="val 2771"/>
            </a:avLst>
          </a:prstGeom>
          <a:solidFill>
            <a:srgbClr val="111723"/>
          </a:solidFill>
          <a:ln w="12700">
            <a:solidFill>
              <a:srgbClr val="222B3B"/>
            </a:solidFill>
            <a:prstDash val="solid"/>
          </a:ln>
        </p:spPr>
      </p:sp>
      <p:sp>
        <p:nvSpPr>
          <p:cNvPr id="31" name="Text 29"/>
          <p:cNvSpPr txBox="1"/>
          <p:nvPr/>
        </p:nvSpPr>
        <p:spPr>
          <a:xfrm>
            <a:off x="8001000" y="1783080"/>
            <a:ext cx="3383280" cy="1371600"/>
          </a:xfrm>
          <a:prstGeom prst="rect">
            <a:avLst/>
          </a:prstGeom>
          <a:noFill/>
          <a:ln/>
        </p:spPr>
        <p:txBody>
          <a:bodyPr wrap="square" lIns="0" tIns="0" rIns="0" bIns="0" rtlCol="0" anchor="ctr"/>
          <a:lstStyle/>
          <a:p>
            <a:pPr indent="0" marL="0">
              <a:buNone/>
            </a:pPr>
            <a:r>
              <a:rPr lang="en-US" sz="9600" b="1" dirty="0">
                <a:solidFill>
                  <a:srgbClr val="FB7185"/>
                </a:solidFill>
                <a:latin typeface="Arial" pitchFamily="34" charset="0"/>
                <a:ea typeface="Arial" pitchFamily="34" charset="-122"/>
                <a:cs typeface="Arial" pitchFamily="34" charset="-120"/>
              </a:rPr>
              <a:t>14</a:t>
            </a:r>
            <a:endParaRPr lang="en-US" sz="9600" dirty="0"/>
          </a:p>
        </p:txBody>
      </p:sp>
      <p:sp>
        <p:nvSpPr>
          <p:cNvPr id="32" name="Text 30"/>
          <p:cNvSpPr txBox="1"/>
          <p:nvPr/>
        </p:nvSpPr>
        <p:spPr>
          <a:xfrm>
            <a:off x="8001000" y="3200400"/>
            <a:ext cx="3383280" cy="822960"/>
          </a:xfrm>
          <a:prstGeom prst="rect">
            <a:avLst/>
          </a:prstGeom>
          <a:noFill/>
          <a:ln/>
        </p:spPr>
        <p:txBody>
          <a:bodyPr wrap="square" lIns="0" tIns="0" rIns="0" bIns="0" rtlCol="0" anchor="ctr"/>
          <a:lstStyle/>
          <a:p>
            <a:pPr indent="0" marL="0">
              <a:buNone/>
            </a:pPr>
            <a:r>
              <a:rPr lang="en-US" sz="1600" dirty="0">
                <a:solidFill>
                  <a:srgbClr val="E2E8F0"/>
                </a:solidFill>
                <a:latin typeface="Calibri" pitchFamily="34" charset="0"/>
                <a:ea typeface="Calibri" pitchFamily="34" charset="-122"/>
                <a:cs typeface="Calibri" pitchFamily="34" charset="-120"/>
              </a:rPr>
              <a:t>required controls failing in CISA's own published ScubaGear sample tenant</a:t>
            </a:r>
            <a:endParaRPr lang="en-US" sz="1600" dirty="0"/>
          </a:p>
        </p:txBody>
      </p:sp>
      <p:sp>
        <p:nvSpPr>
          <p:cNvPr id="33" name="Text 31"/>
          <p:cNvSpPr txBox="1"/>
          <p:nvPr/>
        </p:nvSpPr>
        <p:spPr>
          <a:xfrm>
            <a:off x="8001000" y="4160520"/>
            <a:ext cx="3383280" cy="73152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All 14 are BOD 25-01 requirements. Each one is a manual fix today.</a:t>
            </a:r>
            <a:endParaRPr lang="en-US" sz="1300" dirty="0"/>
          </a:p>
        </p:txBody>
      </p:sp>
      <p:sp>
        <p:nvSpPr>
          <p:cNvPr id="34" name="Text 32"/>
          <p:cNvSpPr txBox="1"/>
          <p:nvPr/>
        </p:nvSpPr>
        <p:spPr>
          <a:xfrm>
            <a:off x="8001000" y="5074920"/>
            <a:ext cx="33832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Source: CISA ScubaGear v1.8.0 sample report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THE GAP AFTER THE REPORT</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Other tools document the risk. ScubaLens closes it.</a:t>
            </a:r>
            <a:endParaRPr lang="en-US" sz="3400" dirty="0"/>
          </a:p>
        </p:txBody>
      </p:sp>
      <p:sp>
        <p:nvSpPr>
          <p:cNvPr id="4" name="Shape 2"/>
          <p:cNvSpPr/>
          <p:nvPr/>
        </p:nvSpPr>
        <p:spPr>
          <a:xfrm>
            <a:off x="548640" y="1691640"/>
            <a:ext cx="5303520" cy="4206240"/>
          </a:xfrm>
          <a:prstGeom prst="roundRect">
            <a:avLst>
              <a:gd name="adj" fmla="val 2609"/>
            </a:avLst>
          </a:prstGeom>
          <a:solidFill>
            <a:srgbClr val="111723"/>
          </a:solidFill>
          <a:ln w="12700">
            <a:solidFill>
              <a:srgbClr val="222B3B"/>
            </a:solidFill>
            <a:prstDash val="solid"/>
          </a:ln>
        </p:spPr>
      </p:sp>
      <p:sp>
        <p:nvSpPr>
          <p:cNvPr id="5" name="Shape 3"/>
          <p:cNvSpPr/>
          <p:nvPr/>
        </p:nvSpPr>
        <p:spPr>
          <a:xfrm>
            <a:off x="6336792" y="1691640"/>
            <a:ext cx="5303520" cy="4206240"/>
          </a:xfrm>
          <a:prstGeom prst="roundRect">
            <a:avLst>
              <a:gd name="adj" fmla="val 2609"/>
            </a:avLst>
          </a:prstGeom>
          <a:solidFill>
            <a:srgbClr val="1A1535"/>
          </a:solidFill>
          <a:ln w="12700">
            <a:solidFill>
              <a:srgbClr val="222B3B"/>
            </a:solidFill>
            <a:prstDash val="solid"/>
          </a:ln>
        </p:spPr>
      </p:sp>
      <p:sp>
        <p:nvSpPr>
          <p:cNvPr id="6" name="Text 4"/>
          <p:cNvSpPr txBox="1"/>
          <p:nvPr/>
        </p:nvSpPr>
        <p:spPr>
          <a:xfrm>
            <a:off x="868680" y="1965960"/>
            <a:ext cx="4663440" cy="365760"/>
          </a:xfrm>
          <a:prstGeom prst="rect">
            <a:avLst/>
          </a:prstGeom>
          <a:noFill/>
          <a:ln/>
        </p:spPr>
        <p:txBody>
          <a:bodyPr wrap="square" lIns="0" tIns="0" rIns="0" bIns="0" rtlCol="0" anchor="ctr"/>
          <a:lstStyle/>
          <a:p>
            <a:pPr indent="0" marL="0">
              <a:buNone/>
            </a:pPr>
            <a:r>
              <a:rPr lang="en-US" sz="2000" b="1" dirty="0">
                <a:solidFill>
                  <a:srgbClr val="94A3B8"/>
                </a:solidFill>
                <a:latin typeface="Arial" pitchFamily="34" charset="0"/>
                <a:ea typeface="Arial" pitchFamily="34" charset="-122"/>
                <a:cs typeface="Arial" pitchFamily="34" charset="-120"/>
              </a:rPr>
              <a:t>Report &amp; chat tools</a:t>
            </a:r>
            <a:endParaRPr lang="en-US" sz="2000" dirty="0"/>
          </a:p>
        </p:txBody>
      </p:sp>
      <p:sp>
        <p:nvSpPr>
          <p:cNvPr id="7" name="Text 5"/>
          <p:cNvSpPr txBox="1"/>
          <p:nvPr/>
        </p:nvSpPr>
        <p:spPr>
          <a:xfrm>
            <a:off x="6656832" y="1965960"/>
            <a:ext cx="4663440" cy="365760"/>
          </a:xfrm>
          <a:prstGeom prst="rect">
            <a:avLst/>
          </a:prstGeom>
          <a:noFill/>
          <a:ln/>
        </p:spPr>
        <p:txBody>
          <a:bodyPr wrap="square" lIns="0" tIns="0" rIns="0" bIns="0" rtlCol="0" anchor="ctr"/>
          <a:lstStyle/>
          <a:p>
            <a:pPr indent="0" marL="0">
              <a:buNone/>
            </a:pPr>
            <a:r>
              <a:rPr lang="en-US" sz="2000" b="1" dirty="0">
                <a:solidFill>
                  <a:srgbClr val="A78BFA"/>
                </a:solidFill>
                <a:latin typeface="Arial" pitchFamily="34" charset="0"/>
                <a:ea typeface="Arial" pitchFamily="34" charset="-122"/>
                <a:cs typeface="Arial" pitchFamily="34" charset="-120"/>
              </a:rPr>
              <a:t>ScubaLens AI</a:t>
            </a:r>
            <a:endParaRPr lang="en-US" sz="2000" dirty="0"/>
          </a:p>
        </p:txBody>
      </p:sp>
      <p:sp>
        <p:nvSpPr>
          <p:cNvPr id="8" name="Text 6"/>
          <p:cNvSpPr txBox="1"/>
          <p:nvPr/>
        </p:nvSpPr>
        <p:spPr>
          <a:xfrm>
            <a:off x="868680" y="2560320"/>
            <a:ext cx="4663440" cy="31089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94A3B8"/>
                </a:solidFill>
                <a:latin typeface="Calibri" pitchFamily="34" charset="0"/>
                <a:ea typeface="Calibri" pitchFamily="34" charset="-122"/>
                <a:cs typeface="Calibri" pitchFamily="34" charset="-120"/>
              </a:rPr>
              <a:t>Convert scans to OSCAL documents</a:t>
            </a:r>
            <a:endParaRPr lang="en-US" sz="1600" dirty="0"/>
          </a:p>
          <a:p>
            <a:pPr marL="228600" indent="-228600">
              <a:spcAft>
                <a:spcPts val="1400"/>
              </a:spcAft>
              <a:buSzPct val="100000"/>
              <a:buChar char="●"/>
            </a:pPr>
            <a:r>
              <a:rPr lang="en-US" sz="1600" dirty="0">
                <a:solidFill>
                  <a:srgbClr val="94A3B8"/>
                </a:solidFill>
                <a:latin typeface="Calibri" pitchFamily="34" charset="0"/>
                <a:ea typeface="Calibri" pitchFamily="34" charset="-122"/>
                <a:cs typeface="Calibri" pitchFamily="34" charset="-120"/>
              </a:rPr>
              <a:t>Map findings to NIST SP 800-53</a:t>
            </a:r>
            <a:endParaRPr lang="en-US" sz="1600" dirty="0"/>
          </a:p>
          <a:p>
            <a:pPr marL="228600" indent="-228600">
              <a:spcAft>
                <a:spcPts val="1400"/>
              </a:spcAft>
              <a:buSzPct val="100000"/>
              <a:buChar char="●"/>
            </a:pPr>
            <a:r>
              <a:rPr lang="en-US" sz="1600" dirty="0">
                <a:solidFill>
                  <a:srgbClr val="94A3B8"/>
                </a:solidFill>
                <a:latin typeface="Calibri" pitchFamily="34" charset="0"/>
                <a:ea typeface="Calibri" pitchFamily="34" charset="-122"/>
                <a:cs typeface="Calibri" pitchFamily="34" charset="-120"/>
              </a:rPr>
              <a:t>Answer questions in plain English</a:t>
            </a:r>
            <a:endParaRPr lang="en-US" sz="1600" dirty="0"/>
          </a:p>
          <a:p>
            <a:pPr marL="228600" indent="-228600">
              <a:spcAft>
                <a:spcPts val="1400"/>
              </a:spcAft>
              <a:buSzPct val="100000"/>
              <a:buChar char="●"/>
            </a:pPr>
            <a:r>
              <a:rPr lang="en-US" sz="1600" dirty="0">
                <a:solidFill>
                  <a:srgbClr val="FB7185"/>
                </a:solidFill>
                <a:latin typeface="Calibri" pitchFamily="34" charset="0"/>
                <a:ea typeface="Calibri" pitchFamily="34" charset="-122"/>
                <a:cs typeface="Calibri" pitchFamily="34" charset="-120"/>
              </a:rPr>
              <a:t>Stop at a remediation plan (POA&amp;M)</a:t>
            </a:r>
            <a:endParaRPr lang="en-US" sz="1600" dirty="0"/>
          </a:p>
          <a:p>
            <a:pPr marL="228600" indent="-228600">
              <a:spcAft>
                <a:spcPts val="1400"/>
              </a:spcAft>
              <a:buSzPct val="100000"/>
              <a:buChar char="●"/>
            </a:pPr>
            <a:r>
              <a:rPr lang="en-US" sz="1600" dirty="0">
                <a:solidFill>
                  <a:srgbClr val="FB7185"/>
                </a:solidFill>
                <a:latin typeface="Calibri" pitchFamily="34" charset="0"/>
                <a:ea typeface="Calibri" pitchFamily="34" charset="-122"/>
                <a:cs typeface="Calibri" pitchFamily="34" charset="-120"/>
              </a:rPr>
              <a:t>An engineer still writes and tests every fix</a:t>
            </a:r>
            <a:endParaRPr lang="en-US" sz="1600" dirty="0"/>
          </a:p>
        </p:txBody>
      </p:sp>
      <p:sp>
        <p:nvSpPr>
          <p:cNvPr id="9" name="Text 7"/>
          <p:cNvSpPr txBox="1"/>
          <p:nvPr/>
        </p:nvSpPr>
        <p:spPr>
          <a:xfrm>
            <a:off x="6656832" y="2560320"/>
            <a:ext cx="4663440" cy="31089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E2E8F0"/>
                </a:solidFill>
                <a:latin typeface="Calibri" pitchFamily="34" charset="0"/>
                <a:ea typeface="Calibri" pitchFamily="34" charset="-122"/>
                <a:cs typeface="Calibri" pitchFamily="34" charset="-120"/>
              </a:rPr>
              <a:t>Exports validated OSCAL results too</a:t>
            </a:r>
            <a:endParaRPr lang="en-US" sz="1600" dirty="0"/>
          </a:p>
          <a:p>
            <a:pPr marL="228600" indent="-228600">
              <a:spcAft>
                <a:spcPts val="1400"/>
              </a:spcAft>
              <a:buSzPct val="100000"/>
              <a:buChar char="✓"/>
            </a:pPr>
            <a:r>
              <a:rPr lang="en-US" sz="1600" b="1" dirty="0">
                <a:solidFill>
                  <a:srgbClr val="E2E8F0"/>
                </a:solidFill>
                <a:latin typeface="Calibri" pitchFamily="34" charset="0"/>
                <a:ea typeface="Calibri" pitchFamily="34" charset="-122"/>
                <a:cs typeface="Calibri" pitchFamily="34" charset="-120"/>
              </a:rPr>
              <a:t>A tested fix script for each failed control</a:t>
            </a:r>
            <a:endParaRPr lang="en-US" sz="1600" dirty="0"/>
          </a:p>
          <a:p>
            <a:pPr marL="228600" indent="-228600">
              <a:spcAft>
                <a:spcPts val="1400"/>
              </a:spcAft>
              <a:buSzPct val="100000"/>
              <a:buChar char="✓"/>
            </a:pPr>
            <a:r>
              <a:rPr lang="en-US" sz="1600" dirty="0">
                <a:solidFill>
                  <a:srgbClr val="E2E8F0"/>
                </a:solidFill>
                <a:latin typeface="Calibri" pitchFamily="34" charset="0"/>
                <a:ea typeface="Calibri" pitchFamily="34" charset="-122"/>
                <a:cs typeface="Calibri" pitchFamily="34" charset="-120"/>
              </a:rPr>
              <a:t>Report-Only rollout or rollback file first</a:t>
            </a:r>
            <a:endParaRPr lang="en-US" sz="1600" dirty="0"/>
          </a:p>
          <a:p>
            <a:pPr marL="228600" indent="-228600">
              <a:spcAft>
                <a:spcPts val="1400"/>
              </a:spcAft>
              <a:buSzPct val="100000"/>
              <a:buChar char="✓"/>
            </a:pPr>
            <a:r>
              <a:rPr lang="en-US" sz="1600" dirty="0">
                <a:solidFill>
                  <a:srgbClr val="E2E8F0"/>
                </a:solidFill>
                <a:latin typeface="Calibri" pitchFamily="34" charset="0"/>
                <a:ea typeface="Calibri" pitchFamily="34" charset="-122"/>
                <a:cs typeface="Calibri" pitchFamily="34" charset="-120"/>
              </a:rPr>
              <a:t>A human approves every change</a:t>
            </a:r>
            <a:endParaRPr lang="en-US" sz="1600" dirty="0"/>
          </a:p>
          <a:p>
            <a:pPr marL="228600" indent="-228600">
              <a:spcAft>
                <a:spcPts val="1400"/>
              </a:spcAft>
              <a:buSzPct val="100000"/>
              <a:buChar char="✓"/>
            </a:pPr>
            <a:r>
              <a:rPr lang="en-US" sz="1600" dirty="0">
                <a:solidFill>
                  <a:srgbClr val="E2E8F0"/>
                </a:solidFill>
                <a:latin typeface="Calibri" pitchFamily="34" charset="0"/>
                <a:ea typeface="Calibri" pitchFamily="34" charset="-122"/>
                <a:cs typeface="Calibri" pitchFamily="34" charset="-120"/>
              </a:rPr>
              <a:t>ScubaGear re-scan proves the fix worked</a:t>
            </a:r>
            <a:endParaRPr lang="en-US" sz="1600" dirty="0"/>
          </a:p>
        </p:txBody>
      </p:sp>
      <p:sp>
        <p:nvSpPr>
          <p:cNvPr id="10" name="Text 8"/>
          <p:cNvSpPr txBox="1"/>
          <p:nvPr/>
        </p:nvSpPr>
        <p:spPr>
          <a:xfrm>
            <a:off x="548640" y="6035040"/>
            <a:ext cx="11094415" cy="365760"/>
          </a:xfrm>
          <a:prstGeom prst="rect">
            <a:avLst/>
          </a:prstGeom>
          <a:noFill/>
          <a:ln/>
        </p:spPr>
        <p:txBody>
          <a:bodyPr wrap="square" lIns="0" tIns="0" rIns="0" bIns="0" rtlCol="0" anchor="ctr"/>
          <a:lstStyle/>
          <a:p>
            <a:pPr algn="ctr" indent="0" marL="0">
              <a:buNone/>
            </a:pPr>
            <a:r>
              <a:rPr lang="en-US" sz="1600" i="1" dirty="0">
                <a:solidFill>
                  <a:srgbClr val="A78BFA"/>
                </a:solidFill>
                <a:latin typeface="Calibri" pitchFamily="34" charset="0"/>
                <a:ea typeface="Calibri" pitchFamily="34" charset="-122"/>
                <a:cs typeface="Calibri" pitchFamily="34" charset="-120"/>
              </a:rPr>
              <a:t>A remediation plan is still paperwork. ScubaLens ships the fix.</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HOW SCUBALENS WORKS</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From finding to verified fix, safely</a:t>
            </a:r>
            <a:endParaRPr lang="en-US" sz="3400" dirty="0"/>
          </a:p>
        </p:txBody>
      </p:sp>
      <p:sp>
        <p:nvSpPr>
          <p:cNvPr id="4" name="Shape 2"/>
          <p:cNvSpPr/>
          <p:nvPr/>
        </p:nvSpPr>
        <p:spPr>
          <a:xfrm>
            <a:off x="548640" y="1828800"/>
            <a:ext cx="1696669" cy="3108960"/>
          </a:xfrm>
          <a:prstGeom prst="roundRect">
            <a:avLst>
              <a:gd name="adj" fmla="val 6467"/>
            </a:avLst>
          </a:prstGeom>
          <a:solidFill>
            <a:srgbClr val="111723"/>
          </a:solidFill>
          <a:ln w="12700">
            <a:solidFill>
              <a:srgbClr val="222B3B"/>
            </a:solidFill>
            <a:prstDash val="solid"/>
          </a:ln>
        </p:spPr>
      </p:sp>
      <p:sp>
        <p:nvSpPr>
          <p:cNvPr id="5" name="Shape 3"/>
          <p:cNvSpPr/>
          <p:nvPr/>
        </p:nvSpPr>
        <p:spPr>
          <a:xfrm>
            <a:off x="822960" y="2103120"/>
            <a:ext cx="685800" cy="685800"/>
          </a:xfrm>
          <a:prstGeom prst="ellipse">
            <a:avLst/>
          </a:prstGeom>
          <a:solidFill>
            <a:srgbClr val="38BDF8">
              <a:alpha val="20000"/>
            </a:srgbClr>
          </a:solidFill>
          <a:ln w="12700">
            <a:solidFill>
              <a:srgbClr val="38BDF8">
                <a:alpha val="60000"/>
              </a:srgbClr>
            </a:solidFill>
            <a:prstDash val="solid"/>
          </a:ln>
        </p:spPr>
      </p:sp>
      <p:pic>
        <p:nvPicPr>
          <p:cNvPr id="6" name="Image 0" descr="preencoded.png">    </p:cNvPr>
          <p:cNvPicPr>
            <a:picLocks noChangeAspect="1"/>
          </p:cNvPicPr>
          <p:nvPr/>
        </p:nvPicPr>
        <p:blipFill>
          <a:blip r:embed="rId1"/>
          <a:stretch>
            <a:fillRect/>
          </a:stretch>
        </p:blipFill>
        <p:spPr>
          <a:xfrm>
            <a:off x="994410" y="2274570"/>
            <a:ext cx="342900" cy="342900"/>
          </a:xfrm>
          <a:prstGeom prst="rect">
            <a:avLst/>
          </a:prstGeom>
        </p:spPr>
      </p:pic>
      <p:sp>
        <p:nvSpPr>
          <p:cNvPr id="7" name="Text 4"/>
          <p:cNvSpPr txBox="1"/>
          <p:nvPr/>
        </p:nvSpPr>
        <p:spPr>
          <a:xfrm>
            <a:off x="1559509"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01</a:t>
            </a:r>
            <a:endParaRPr lang="en-US" sz="1300" dirty="0"/>
          </a:p>
        </p:txBody>
      </p:sp>
      <p:sp>
        <p:nvSpPr>
          <p:cNvPr id="8" name="Text 5"/>
          <p:cNvSpPr txBox="1"/>
          <p:nvPr/>
        </p:nvSpPr>
        <p:spPr>
          <a:xfrm>
            <a:off x="822960"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Scan</a:t>
            </a:r>
            <a:endParaRPr lang="en-US" sz="1800" dirty="0"/>
          </a:p>
        </p:txBody>
      </p:sp>
      <p:sp>
        <p:nvSpPr>
          <p:cNvPr id="9" name="Text 6"/>
          <p:cNvSpPr txBox="1"/>
          <p:nvPr/>
        </p:nvSpPr>
        <p:spPr>
          <a:xfrm>
            <a:off x="822960"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ScubaGear checks the tenant against SCuBA baselines</a:t>
            </a:r>
            <a:endParaRPr lang="en-US" sz="1300" dirty="0"/>
          </a:p>
        </p:txBody>
      </p:sp>
      <p:sp>
        <p:nvSpPr>
          <p:cNvPr id="10" name="Shape 7"/>
          <p:cNvSpPr/>
          <p:nvPr/>
        </p:nvSpPr>
        <p:spPr>
          <a:xfrm>
            <a:off x="2428189" y="1828800"/>
            <a:ext cx="1696669" cy="3108960"/>
          </a:xfrm>
          <a:prstGeom prst="roundRect">
            <a:avLst>
              <a:gd name="adj" fmla="val 6467"/>
            </a:avLst>
          </a:prstGeom>
          <a:solidFill>
            <a:srgbClr val="111723"/>
          </a:solidFill>
          <a:ln w="12700">
            <a:solidFill>
              <a:srgbClr val="222B3B"/>
            </a:solidFill>
            <a:prstDash val="solid"/>
          </a:ln>
        </p:spPr>
      </p:sp>
      <p:sp>
        <p:nvSpPr>
          <p:cNvPr id="11" name="Shape 8"/>
          <p:cNvSpPr/>
          <p:nvPr/>
        </p:nvSpPr>
        <p:spPr>
          <a:xfrm>
            <a:off x="2702509" y="2103120"/>
            <a:ext cx="685800" cy="685800"/>
          </a:xfrm>
          <a:prstGeom prst="ellipse">
            <a:avLst/>
          </a:prstGeom>
          <a:solidFill>
            <a:srgbClr val="34D399">
              <a:alpha val="20000"/>
            </a:srgbClr>
          </a:solidFill>
          <a:ln w="12700">
            <a:solidFill>
              <a:srgbClr val="34D399">
                <a:alpha val="60000"/>
              </a:srgbClr>
            </a:solidFill>
            <a:prstDash val="solid"/>
          </a:ln>
        </p:spPr>
      </p:sp>
      <p:pic>
        <p:nvPicPr>
          <p:cNvPr id="12" name="Image 1" descr="preencoded.png">    </p:cNvPr>
          <p:cNvPicPr>
            <a:picLocks noChangeAspect="1"/>
          </p:cNvPicPr>
          <p:nvPr/>
        </p:nvPicPr>
        <p:blipFill>
          <a:blip r:embed="rId2"/>
          <a:stretch>
            <a:fillRect/>
          </a:stretch>
        </p:blipFill>
        <p:spPr>
          <a:xfrm>
            <a:off x="2873959" y="2274570"/>
            <a:ext cx="342900" cy="342900"/>
          </a:xfrm>
          <a:prstGeom prst="rect">
            <a:avLst/>
          </a:prstGeom>
        </p:spPr>
      </p:pic>
      <p:sp>
        <p:nvSpPr>
          <p:cNvPr id="13" name="Text 9"/>
          <p:cNvSpPr txBox="1"/>
          <p:nvPr/>
        </p:nvSpPr>
        <p:spPr>
          <a:xfrm>
            <a:off x="3439058"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02</a:t>
            </a:r>
            <a:endParaRPr lang="en-US" sz="1300" dirty="0"/>
          </a:p>
        </p:txBody>
      </p:sp>
      <p:sp>
        <p:nvSpPr>
          <p:cNvPr id="14" name="Text 10"/>
          <p:cNvSpPr txBox="1"/>
          <p:nvPr/>
        </p:nvSpPr>
        <p:spPr>
          <a:xfrm>
            <a:off x="2702509"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Mask</a:t>
            </a:r>
            <a:endParaRPr lang="en-US" sz="1800" dirty="0"/>
          </a:p>
        </p:txBody>
      </p:sp>
      <p:sp>
        <p:nvSpPr>
          <p:cNvPr id="15" name="Text 11"/>
          <p:cNvSpPr txBox="1"/>
          <p:nvPr/>
        </p:nvSpPr>
        <p:spPr>
          <a:xfrm>
            <a:off x="2702509"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Emails, tenant IDs and IPs become tokens before AI sees anything</a:t>
            </a:r>
            <a:endParaRPr lang="en-US" sz="1300" dirty="0"/>
          </a:p>
        </p:txBody>
      </p:sp>
      <p:sp>
        <p:nvSpPr>
          <p:cNvPr id="16" name="Shape 12"/>
          <p:cNvSpPr/>
          <p:nvPr/>
        </p:nvSpPr>
        <p:spPr>
          <a:xfrm>
            <a:off x="4307738" y="1828800"/>
            <a:ext cx="1696669" cy="3108960"/>
          </a:xfrm>
          <a:prstGeom prst="roundRect">
            <a:avLst>
              <a:gd name="adj" fmla="val 6467"/>
            </a:avLst>
          </a:prstGeom>
          <a:solidFill>
            <a:srgbClr val="111723"/>
          </a:solidFill>
          <a:ln w="12700">
            <a:solidFill>
              <a:srgbClr val="222B3B"/>
            </a:solidFill>
            <a:prstDash val="solid"/>
          </a:ln>
        </p:spPr>
      </p:sp>
      <p:sp>
        <p:nvSpPr>
          <p:cNvPr id="17" name="Shape 13"/>
          <p:cNvSpPr/>
          <p:nvPr/>
        </p:nvSpPr>
        <p:spPr>
          <a:xfrm>
            <a:off x="4582058" y="2103120"/>
            <a:ext cx="685800" cy="685800"/>
          </a:xfrm>
          <a:prstGeom prst="ellipse">
            <a:avLst/>
          </a:prstGeom>
          <a:solidFill>
            <a:srgbClr val="A78BFA">
              <a:alpha val="20000"/>
            </a:srgbClr>
          </a:solidFill>
          <a:ln w="12700">
            <a:solidFill>
              <a:srgbClr val="A78BFA">
                <a:alpha val="60000"/>
              </a:srgbClr>
            </a:solidFill>
            <a:prstDash val="solid"/>
          </a:ln>
        </p:spPr>
      </p:sp>
      <p:pic>
        <p:nvPicPr>
          <p:cNvPr id="18" name="Image 2" descr="preencoded.png">    </p:cNvPr>
          <p:cNvPicPr>
            <a:picLocks noChangeAspect="1"/>
          </p:cNvPicPr>
          <p:nvPr/>
        </p:nvPicPr>
        <p:blipFill>
          <a:blip r:embed="rId3"/>
          <a:stretch>
            <a:fillRect/>
          </a:stretch>
        </p:blipFill>
        <p:spPr>
          <a:xfrm>
            <a:off x="4753508" y="2274570"/>
            <a:ext cx="342900" cy="342900"/>
          </a:xfrm>
          <a:prstGeom prst="rect">
            <a:avLst/>
          </a:prstGeom>
        </p:spPr>
      </p:pic>
      <p:sp>
        <p:nvSpPr>
          <p:cNvPr id="19" name="Text 14"/>
          <p:cNvSpPr txBox="1"/>
          <p:nvPr/>
        </p:nvSpPr>
        <p:spPr>
          <a:xfrm>
            <a:off x="5318608"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03</a:t>
            </a:r>
            <a:endParaRPr lang="en-US" sz="1300" dirty="0"/>
          </a:p>
        </p:txBody>
      </p:sp>
      <p:sp>
        <p:nvSpPr>
          <p:cNvPr id="20" name="Text 15"/>
          <p:cNvSpPr txBox="1"/>
          <p:nvPr/>
        </p:nvSpPr>
        <p:spPr>
          <a:xfrm>
            <a:off x="4582058"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Match</a:t>
            </a:r>
            <a:endParaRPr lang="en-US" sz="1800" dirty="0"/>
          </a:p>
        </p:txBody>
      </p:sp>
      <p:sp>
        <p:nvSpPr>
          <p:cNvPr id="21" name="Text 16"/>
          <p:cNvSpPr txBox="1"/>
          <p:nvPr/>
        </p:nvSpPr>
        <p:spPr>
          <a:xfrm>
            <a:off x="4582058"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Each failure is matched to a pre-approved, tested fix template</a:t>
            </a:r>
            <a:endParaRPr lang="en-US" sz="1300" dirty="0"/>
          </a:p>
        </p:txBody>
      </p:sp>
      <p:sp>
        <p:nvSpPr>
          <p:cNvPr id="22" name="Shape 17"/>
          <p:cNvSpPr/>
          <p:nvPr/>
        </p:nvSpPr>
        <p:spPr>
          <a:xfrm>
            <a:off x="6187288" y="1828800"/>
            <a:ext cx="1696669" cy="3108960"/>
          </a:xfrm>
          <a:prstGeom prst="roundRect">
            <a:avLst>
              <a:gd name="adj" fmla="val 6467"/>
            </a:avLst>
          </a:prstGeom>
          <a:solidFill>
            <a:srgbClr val="111723"/>
          </a:solidFill>
          <a:ln w="12700">
            <a:solidFill>
              <a:srgbClr val="222B3B"/>
            </a:solidFill>
            <a:prstDash val="solid"/>
          </a:ln>
        </p:spPr>
      </p:sp>
      <p:sp>
        <p:nvSpPr>
          <p:cNvPr id="23" name="Shape 18"/>
          <p:cNvSpPr/>
          <p:nvPr/>
        </p:nvSpPr>
        <p:spPr>
          <a:xfrm>
            <a:off x="6461608" y="2103120"/>
            <a:ext cx="685800" cy="685800"/>
          </a:xfrm>
          <a:prstGeom prst="ellipse">
            <a:avLst/>
          </a:prstGeom>
          <a:solidFill>
            <a:srgbClr val="FBBF24">
              <a:alpha val="20000"/>
            </a:srgbClr>
          </a:solidFill>
          <a:ln w="12700">
            <a:solidFill>
              <a:srgbClr val="FBBF24">
                <a:alpha val="60000"/>
              </a:srgbClr>
            </a:solidFill>
            <a:prstDash val="solid"/>
          </a:ln>
        </p:spPr>
      </p:sp>
      <p:pic>
        <p:nvPicPr>
          <p:cNvPr id="24" name="Image 3" descr="preencoded.png">    </p:cNvPr>
          <p:cNvPicPr>
            <a:picLocks noChangeAspect="1"/>
          </p:cNvPicPr>
          <p:nvPr/>
        </p:nvPicPr>
        <p:blipFill>
          <a:blip r:embed="rId4"/>
          <a:stretch>
            <a:fillRect/>
          </a:stretch>
        </p:blipFill>
        <p:spPr>
          <a:xfrm>
            <a:off x="6633058" y="2274570"/>
            <a:ext cx="342900" cy="342900"/>
          </a:xfrm>
          <a:prstGeom prst="rect">
            <a:avLst/>
          </a:prstGeom>
        </p:spPr>
      </p:pic>
      <p:sp>
        <p:nvSpPr>
          <p:cNvPr id="25" name="Text 19"/>
          <p:cNvSpPr txBox="1"/>
          <p:nvPr/>
        </p:nvSpPr>
        <p:spPr>
          <a:xfrm>
            <a:off x="7198157"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04</a:t>
            </a:r>
            <a:endParaRPr lang="en-US" sz="1300" dirty="0"/>
          </a:p>
        </p:txBody>
      </p:sp>
      <p:sp>
        <p:nvSpPr>
          <p:cNvPr id="26" name="Text 20"/>
          <p:cNvSpPr txBox="1"/>
          <p:nvPr/>
        </p:nvSpPr>
        <p:spPr>
          <a:xfrm>
            <a:off x="6461608"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Approve</a:t>
            </a:r>
            <a:endParaRPr lang="en-US" sz="1800" dirty="0"/>
          </a:p>
        </p:txBody>
      </p:sp>
      <p:sp>
        <p:nvSpPr>
          <p:cNvPr id="27" name="Text 21"/>
          <p:cNvSpPr txBox="1"/>
          <p:nvPr/>
        </p:nvSpPr>
        <p:spPr>
          <a:xfrm>
            <a:off x="6461608"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An engineer reviews and approves the change</a:t>
            </a:r>
            <a:endParaRPr lang="en-US" sz="1300" dirty="0"/>
          </a:p>
        </p:txBody>
      </p:sp>
      <p:sp>
        <p:nvSpPr>
          <p:cNvPr id="28" name="Shape 22"/>
          <p:cNvSpPr/>
          <p:nvPr/>
        </p:nvSpPr>
        <p:spPr>
          <a:xfrm>
            <a:off x="8066837" y="1828800"/>
            <a:ext cx="1696669" cy="3108960"/>
          </a:xfrm>
          <a:prstGeom prst="roundRect">
            <a:avLst>
              <a:gd name="adj" fmla="val 6467"/>
            </a:avLst>
          </a:prstGeom>
          <a:solidFill>
            <a:srgbClr val="111723"/>
          </a:solidFill>
          <a:ln w="12700">
            <a:solidFill>
              <a:srgbClr val="222B3B"/>
            </a:solidFill>
            <a:prstDash val="solid"/>
          </a:ln>
        </p:spPr>
      </p:sp>
      <p:sp>
        <p:nvSpPr>
          <p:cNvPr id="29" name="Shape 23"/>
          <p:cNvSpPr/>
          <p:nvPr/>
        </p:nvSpPr>
        <p:spPr>
          <a:xfrm>
            <a:off x="8341157" y="2103120"/>
            <a:ext cx="685800" cy="685800"/>
          </a:xfrm>
          <a:prstGeom prst="ellipse">
            <a:avLst/>
          </a:prstGeom>
          <a:solidFill>
            <a:srgbClr val="38BDF8">
              <a:alpha val="20000"/>
            </a:srgbClr>
          </a:solidFill>
          <a:ln w="12700">
            <a:solidFill>
              <a:srgbClr val="38BDF8">
                <a:alpha val="60000"/>
              </a:srgbClr>
            </a:solidFill>
            <a:prstDash val="solid"/>
          </a:ln>
        </p:spPr>
      </p:sp>
      <p:pic>
        <p:nvPicPr>
          <p:cNvPr id="30" name="Image 4" descr="preencoded.png">    </p:cNvPr>
          <p:cNvPicPr>
            <a:picLocks noChangeAspect="1"/>
          </p:cNvPicPr>
          <p:nvPr/>
        </p:nvPicPr>
        <p:blipFill>
          <a:blip r:embed="rId5"/>
          <a:stretch>
            <a:fillRect/>
          </a:stretch>
        </p:blipFill>
        <p:spPr>
          <a:xfrm>
            <a:off x="8512607" y="2274570"/>
            <a:ext cx="342900" cy="342900"/>
          </a:xfrm>
          <a:prstGeom prst="rect">
            <a:avLst/>
          </a:prstGeom>
        </p:spPr>
      </p:pic>
      <p:sp>
        <p:nvSpPr>
          <p:cNvPr id="31" name="Text 24"/>
          <p:cNvSpPr txBox="1"/>
          <p:nvPr/>
        </p:nvSpPr>
        <p:spPr>
          <a:xfrm>
            <a:off x="9077706"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05</a:t>
            </a:r>
            <a:endParaRPr lang="en-US" sz="1300" dirty="0"/>
          </a:p>
        </p:txBody>
      </p:sp>
      <p:sp>
        <p:nvSpPr>
          <p:cNvPr id="32" name="Text 25"/>
          <p:cNvSpPr txBox="1"/>
          <p:nvPr/>
        </p:nvSpPr>
        <p:spPr>
          <a:xfrm>
            <a:off x="8341157"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Roll out</a:t>
            </a:r>
            <a:endParaRPr lang="en-US" sz="1800" dirty="0"/>
          </a:p>
        </p:txBody>
      </p:sp>
      <p:sp>
        <p:nvSpPr>
          <p:cNvPr id="33" name="Text 26"/>
          <p:cNvSpPr txBox="1"/>
          <p:nvPr/>
        </p:nvSpPr>
        <p:spPr>
          <a:xfrm>
            <a:off x="8341157"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Report-Only mode first, or a rollback file is saved</a:t>
            </a:r>
            <a:endParaRPr lang="en-US" sz="1300" dirty="0"/>
          </a:p>
        </p:txBody>
      </p:sp>
      <p:sp>
        <p:nvSpPr>
          <p:cNvPr id="34" name="Shape 27"/>
          <p:cNvSpPr/>
          <p:nvPr/>
        </p:nvSpPr>
        <p:spPr>
          <a:xfrm>
            <a:off x="9946386" y="1828800"/>
            <a:ext cx="1696669" cy="3108960"/>
          </a:xfrm>
          <a:prstGeom prst="roundRect">
            <a:avLst>
              <a:gd name="adj" fmla="val 6467"/>
            </a:avLst>
          </a:prstGeom>
          <a:solidFill>
            <a:srgbClr val="111723"/>
          </a:solidFill>
          <a:ln w="12700">
            <a:solidFill>
              <a:srgbClr val="222B3B"/>
            </a:solidFill>
            <a:prstDash val="solid"/>
          </a:ln>
        </p:spPr>
      </p:sp>
      <p:sp>
        <p:nvSpPr>
          <p:cNvPr id="35" name="Shape 28"/>
          <p:cNvSpPr/>
          <p:nvPr/>
        </p:nvSpPr>
        <p:spPr>
          <a:xfrm>
            <a:off x="10220706" y="2103120"/>
            <a:ext cx="685800" cy="685800"/>
          </a:xfrm>
          <a:prstGeom prst="ellipse">
            <a:avLst/>
          </a:prstGeom>
          <a:solidFill>
            <a:srgbClr val="34D399">
              <a:alpha val="20000"/>
            </a:srgbClr>
          </a:solidFill>
          <a:ln w="12700">
            <a:solidFill>
              <a:srgbClr val="34D399">
                <a:alpha val="60000"/>
              </a:srgbClr>
            </a:solidFill>
            <a:prstDash val="solid"/>
          </a:ln>
        </p:spPr>
      </p:sp>
      <p:pic>
        <p:nvPicPr>
          <p:cNvPr id="36" name="Image 5" descr="preencoded.png">    </p:cNvPr>
          <p:cNvPicPr>
            <a:picLocks noChangeAspect="1"/>
          </p:cNvPicPr>
          <p:nvPr/>
        </p:nvPicPr>
        <p:blipFill>
          <a:blip r:embed="rId6"/>
          <a:stretch>
            <a:fillRect/>
          </a:stretch>
        </p:blipFill>
        <p:spPr>
          <a:xfrm>
            <a:off x="10392156" y="2274570"/>
            <a:ext cx="342900" cy="342900"/>
          </a:xfrm>
          <a:prstGeom prst="rect">
            <a:avLst/>
          </a:prstGeom>
        </p:spPr>
      </p:pic>
      <p:sp>
        <p:nvSpPr>
          <p:cNvPr id="37" name="Text 29"/>
          <p:cNvSpPr txBox="1"/>
          <p:nvPr/>
        </p:nvSpPr>
        <p:spPr>
          <a:xfrm>
            <a:off x="10957255" y="2148840"/>
            <a:ext cx="457200" cy="320040"/>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06</a:t>
            </a:r>
            <a:endParaRPr lang="en-US" sz="1300" dirty="0"/>
          </a:p>
        </p:txBody>
      </p:sp>
      <p:sp>
        <p:nvSpPr>
          <p:cNvPr id="38" name="Text 30"/>
          <p:cNvSpPr txBox="1"/>
          <p:nvPr/>
        </p:nvSpPr>
        <p:spPr>
          <a:xfrm>
            <a:off x="10220706" y="3017520"/>
            <a:ext cx="1239469"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Verify</a:t>
            </a:r>
            <a:endParaRPr lang="en-US" sz="1800" dirty="0"/>
          </a:p>
        </p:txBody>
      </p:sp>
      <p:sp>
        <p:nvSpPr>
          <p:cNvPr id="39" name="Text 31"/>
          <p:cNvSpPr txBox="1"/>
          <p:nvPr/>
        </p:nvSpPr>
        <p:spPr>
          <a:xfrm>
            <a:off x="10220706" y="3474720"/>
            <a:ext cx="1239469" cy="12801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ScubaGear re-scan proves it, results export as OSCAL</a:t>
            </a:r>
            <a:endParaRPr lang="en-US" sz="1300" dirty="0"/>
          </a:p>
        </p:txBody>
      </p:sp>
      <p:sp>
        <p:nvSpPr>
          <p:cNvPr id="40" name="Shape 32"/>
          <p:cNvSpPr/>
          <p:nvPr/>
        </p:nvSpPr>
        <p:spPr>
          <a:xfrm>
            <a:off x="548640" y="5303520"/>
            <a:ext cx="11094415" cy="822960"/>
          </a:xfrm>
          <a:prstGeom prst="roundRect">
            <a:avLst>
              <a:gd name="adj" fmla="val 13333"/>
            </a:avLst>
          </a:prstGeom>
          <a:solidFill>
            <a:srgbClr val="1A1535"/>
          </a:solidFill>
          <a:ln w="12700">
            <a:solidFill>
              <a:srgbClr val="222B3B"/>
            </a:solidFill>
            <a:prstDash val="solid"/>
          </a:ln>
        </p:spPr>
      </p:sp>
      <p:sp>
        <p:nvSpPr>
          <p:cNvPr id="41" name="Text 33"/>
          <p:cNvSpPr txBox="1"/>
          <p:nvPr/>
        </p:nvSpPr>
        <p:spPr>
          <a:xfrm>
            <a:off x="548640" y="5303520"/>
            <a:ext cx="11094415"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 proposes. Identity authorizes. Humans approve. Enterprise controls execute.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REAL DATA, NOT A MOCKUP</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Proven on CISA's own sample scan</a:t>
            </a:r>
            <a:endParaRPr lang="en-US" sz="3400" dirty="0"/>
          </a:p>
        </p:txBody>
      </p:sp>
      <p:sp>
        <p:nvSpPr>
          <p:cNvPr id="4" name="Shape 2"/>
          <p:cNvSpPr/>
          <p:nvPr/>
        </p:nvSpPr>
        <p:spPr>
          <a:xfrm>
            <a:off x="512064" y="1655064"/>
            <a:ext cx="7388352" cy="4187952"/>
          </a:xfrm>
          <a:prstGeom prst="roundRect">
            <a:avLst>
              <a:gd name="adj" fmla="val 1747"/>
            </a:avLst>
          </a:prstGeom>
          <a:solidFill>
            <a:srgbClr val="222B3B"/>
          </a:solidFill>
          <a:ln w="12700">
            <a:solidFill>
              <a:srgbClr val="7C3AED">
                <a:alpha val="50000"/>
              </a:srgbClr>
            </a:solidFill>
            <a:prstDash val="solid"/>
          </a:ln>
          <a:effectLst>
            <a:outerShdw sx="100000" sy="100000" kx="0" ky="0" algn="bl" rotWithShape="0" blurRad="177800" dist="50800" dir="5400000">
              <a:srgbClr val="000000">
                <a:alpha val="50000"/>
              </a:srgbClr>
            </a:outerShdw>
          </a:effectLst>
        </p:spPr>
      </p:sp>
      <p:pic>
        <p:nvPicPr>
          <p:cNvPr id="5" name="Image 0" descr="/mnt/user-data/outputs/ScubaLens-AI/docs/cisa-sample-view.png">    </p:cNvPr>
          <p:cNvPicPr>
            <a:picLocks noChangeAspect="1"/>
          </p:cNvPicPr>
          <p:nvPr/>
        </p:nvPicPr>
        <p:blipFill>
          <a:blip r:embed="rId1"/>
          <a:stretch>
            <a:fillRect/>
          </a:stretch>
        </p:blipFill>
        <p:spPr>
          <a:xfrm>
            <a:off x="548640" y="1691640"/>
            <a:ext cx="7315200" cy="4114800"/>
          </a:xfrm>
          <a:prstGeom prst="rect">
            <a:avLst/>
          </a:prstGeom>
        </p:spPr>
      </p:pic>
      <p:sp>
        <p:nvSpPr>
          <p:cNvPr id="6" name="Shape 3"/>
          <p:cNvSpPr/>
          <p:nvPr/>
        </p:nvSpPr>
        <p:spPr>
          <a:xfrm>
            <a:off x="8321040" y="1691640"/>
            <a:ext cx="3322015" cy="914400"/>
          </a:xfrm>
          <a:prstGeom prst="roundRect">
            <a:avLst>
              <a:gd name="adj" fmla="val 12000"/>
            </a:avLst>
          </a:prstGeom>
          <a:solidFill>
            <a:srgbClr val="111723"/>
          </a:solidFill>
          <a:ln w="12700">
            <a:solidFill>
              <a:srgbClr val="222B3B"/>
            </a:solidFill>
            <a:prstDash val="solid"/>
          </a:ln>
        </p:spPr>
      </p:sp>
      <p:sp>
        <p:nvSpPr>
          <p:cNvPr id="7" name="Text 4"/>
          <p:cNvSpPr txBox="1"/>
          <p:nvPr/>
        </p:nvSpPr>
        <p:spPr>
          <a:xfrm>
            <a:off x="8549640" y="1691640"/>
            <a:ext cx="914400" cy="9144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92</a:t>
            </a:r>
            <a:endParaRPr lang="en-US" sz="3600" dirty="0"/>
          </a:p>
        </p:txBody>
      </p:sp>
      <p:sp>
        <p:nvSpPr>
          <p:cNvPr id="8" name="Text 5"/>
          <p:cNvSpPr txBox="1"/>
          <p:nvPr/>
        </p:nvSpPr>
        <p:spPr>
          <a:xfrm>
            <a:off x="9464040" y="1691640"/>
            <a:ext cx="2041855" cy="9144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policies read from CISA's ScubaGear v1.8.0 sample</a:t>
            </a:r>
            <a:endParaRPr lang="en-US" sz="1300" dirty="0"/>
          </a:p>
        </p:txBody>
      </p:sp>
      <p:sp>
        <p:nvSpPr>
          <p:cNvPr id="9" name="Shape 6"/>
          <p:cNvSpPr/>
          <p:nvPr/>
        </p:nvSpPr>
        <p:spPr>
          <a:xfrm>
            <a:off x="8321040" y="2724912"/>
            <a:ext cx="3322015" cy="914400"/>
          </a:xfrm>
          <a:prstGeom prst="roundRect">
            <a:avLst>
              <a:gd name="adj" fmla="val 12000"/>
            </a:avLst>
          </a:prstGeom>
          <a:solidFill>
            <a:srgbClr val="111723"/>
          </a:solidFill>
          <a:ln w="12700">
            <a:solidFill>
              <a:srgbClr val="222B3B"/>
            </a:solidFill>
            <a:prstDash val="solid"/>
          </a:ln>
        </p:spPr>
      </p:sp>
      <p:sp>
        <p:nvSpPr>
          <p:cNvPr id="10" name="Text 7"/>
          <p:cNvSpPr txBox="1"/>
          <p:nvPr/>
        </p:nvSpPr>
        <p:spPr>
          <a:xfrm>
            <a:off x="8549640" y="2724912"/>
            <a:ext cx="914400" cy="914400"/>
          </a:xfrm>
          <a:prstGeom prst="rect">
            <a:avLst/>
          </a:prstGeom>
          <a:noFill/>
          <a:ln/>
        </p:spPr>
        <p:txBody>
          <a:bodyPr wrap="square" lIns="0" tIns="0" rIns="0" bIns="0" rtlCol="0" anchor="ctr"/>
          <a:lstStyle/>
          <a:p>
            <a:pPr indent="0" marL="0">
              <a:buNone/>
            </a:pPr>
            <a:r>
              <a:rPr lang="en-US" sz="3600" b="1" dirty="0">
                <a:solidFill>
                  <a:srgbClr val="FB7185"/>
                </a:solidFill>
                <a:latin typeface="Arial" pitchFamily="34" charset="0"/>
                <a:ea typeface="Arial" pitchFamily="34" charset="-122"/>
                <a:cs typeface="Arial" pitchFamily="34" charset="-120"/>
              </a:rPr>
              <a:t>14</a:t>
            </a:r>
            <a:endParaRPr lang="en-US" sz="3600" dirty="0"/>
          </a:p>
        </p:txBody>
      </p:sp>
      <p:sp>
        <p:nvSpPr>
          <p:cNvPr id="11" name="Text 8"/>
          <p:cNvSpPr txBox="1"/>
          <p:nvPr/>
        </p:nvSpPr>
        <p:spPr>
          <a:xfrm>
            <a:off x="9464040" y="2724912"/>
            <a:ext cx="2041855" cy="9144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failing required controls, all BOD 25-01</a:t>
            </a:r>
            <a:endParaRPr lang="en-US" sz="1300" dirty="0"/>
          </a:p>
        </p:txBody>
      </p:sp>
      <p:sp>
        <p:nvSpPr>
          <p:cNvPr id="12" name="Shape 9"/>
          <p:cNvSpPr/>
          <p:nvPr/>
        </p:nvSpPr>
        <p:spPr>
          <a:xfrm>
            <a:off x="8321040" y="3758184"/>
            <a:ext cx="3322015" cy="914400"/>
          </a:xfrm>
          <a:prstGeom prst="roundRect">
            <a:avLst>
              <a:gd name="adj" fmla="val 12000"/>
            </a:avLst>
          </a:prstGeom>
          <a:solidFill>
            <a:srgbClr val="111723"/>
          </a:solidFill>
          <a:ln w="12700">
            <a:solidFill>
              <a:srgbClr val="222B3B"/>
            </a:solidFill>
            <a:prstDash val="solid"/>
          </a:ln>
        </p:spPr>
      </p:sp>
      <p:sp>
        <p:nvSpPr>
          <p:cNvPr id="13" name="Text 10"/>
          <p:cNvSpPr txBox="1"/>
          <p:nvPr/>
        </p:nvSpPr>
        <p:spPr>
          <a:xfrm>
            <a:off x="8549640" y="3758184"/>
            <a:ext cx="914400" cy="914400"/>
          </a:xfrm>
          <a:prstGeom prst="rect">
            <a:avLst/>
          </a:prstGeom>
          <a:noFill/>
          <a:ln/>
        </p:spPr>
        <p:txBody>
          <a:bodyPr wrap="square" lIns="0" tIns="0" rIns="0" bIns="0" rtlCol="0" anchor="ctr"/>
          <a:lstStyle/>
          <a:p>
            <a:pPr indent="0" marL="0">
              <a:buNone/>
            </a:pPr>
            <a:r>
              <a:rPr lang="en-US" sz="3600" b="1" dirty="0">
                <a:solidFill>
                  <a:srgbClr val="A78BFA"/>
                </a:solidFill>
                <a:latin typeface="Arial" pitchFamily="34" charset="0"/>
                <a:ea typeface="Arial" pitchFamily="34" charset="-122"/>
                <a:cs typeface="Arial" pitchFamily="34" charset="-120"/>
              </a:rPr>
              <a:t>5</a:t>
            </a:r>
            <a:endParaRPr lang="en-US" sz="3600" dirty="0"/>
          </a:p>
        </p:txBody>
      </p:sp>
      <p:sp>
        <p:nvSpPr>
          <p:cNvPr id="14" name="Text 11"/>
          <p:cNvSpPr txBox="1"/>
          <p:nvPr/>
        </p:nvSpPr>
        <p:spPr>
          <a:xfrm>
            <a:off x="9464040" y="3758184"/>
            <a:ext cx="2041855" cy="9144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approved one-click fixes ready</a:t>
            </a:r>
            <a:endParaRPr lang="en-US" sz="1300" dirty="0"/>
          </a:p>
        </p:txBody>
      </p:sp>
      <p:sp>
        <p:nvSpPr>
          <p:cNvPr id="15" name="Shape 12"/>
          <p:cNvSpPr/>
          <p:nvPr/>
        </p:nvSpPr>
        <p:spPr>
          <a:xfrm>
            <a:off x="8321040" y="4791456"/>
            <a:ext cx="3322015" cy="914400"/>
          </a:xfrm>
          <a:prstGeom prst="roundRect">
            <a:avLst>
              <a:gd name="adj" fmla="val 12000"/>
            </a:avLst>
          </a:prstGeom>
          <a:solidFill>
            <a:srgbClr val="111723"/>
          </a:solidFill>
          <a:ln w="12700">
            <a:solidFill>
              <a:srgbClr val="222B3B"/>
            </a:solidFill>
            <a:prstDash val="solid"/>
          </a:ln>
        </p:spPr>
      </p:sp>
      <p:sp>
        <p:nvSpPr>
          <p:cNvPr id="16" name="Text 13"/>
          <p:cNvSpPr txBox="1"/>
          <p:nvPr/>
        </p:nvSpPr>
        <p:spPr>
          <a:xfrm>
            <a:off x="8549640" y="4791456"/>
            <a:ext cx="914400" cy="914400"/>
          </a:xfrm>
          <a:prstGeom prst="rect">
            <a:avLst/>
          </a:prstGeom>
          <a:noFill/>
          <a:ln/>
        </p:spPr>
        <p:txBody>
          <a:bodyPr wrap="square" lIns="0" tIns="0" rIns="0" bIns="0" rtlCol="0" anchor="ctr"/>
          <a:lstStyle/>
          <a:p>
            <a:pPr indent="0" marL="0">
              <a:buNone/>
            </a:pPr>
            <a:r>
              <a:rPr lang="en-US" sz="3600" b="1" dirty="0">
                <a:solidFill>
                  <a:srgbClr val="FBBF24"/>
                </a:solidFill>
                <a:latin typeface="Arial" pitchFamily="34" charset="0"/>
                <a:ea typeface="Arial" pitchFamily="34" charset="-122"/>
                <a:cs typeface="Arial" pitchFamily="34" charset="-120"/>
              </a:rPr>
              <a:t>9</a:t>
            </a:r>
            <a:endParaRPr lang="en-US" sz="3600" dirty="0"/>
          </a:p>
        </p:txBody>
      </p:sp>
      <p:sp>
        <p:nvSpPr>
          <p:cNvPr id="17" name="Text 14"/>
          <p:cNvSpPr txBox="1"/>
          <p:nvPr/>
        </p:nvSpPr>
        <p:spPr>
          <a:xfrm>
            <a:off x="9464040" y="4791456"/>
            <a:ext cx="2041855" cy="9144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routed to an engineer, never AI-written</a:t>
            </a:r>
            <a:endParaRPr lang="en-US" sz="1300" dirty="0"/>
          </a:p>
        </p:txBody>
      </p:sp>
      <p:sp>
        <p:nvSpPr>
          <p:cNvPr id="18" name="Text 15"/>
          <p:cNvSpPr txBox="1"/>
          <p:nvPr/>
        </p:nvSpPr>
        <p:spPr>
          <a:xfrm>
            <a:off x="548640" y="5989320"/>
            <a:ext cx="731520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Agencies can also import their own ScubaGear results. Files are read in the browser and masked on load.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DATA SAFEGUARDS</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Responsible AI you can see and test</a:t>
            </a:r>
            <a:endParaRPr lang="en-US" sz="3400" dirty="0"/>
          </a:p>
        </p:txBody>
      </p:sp>
      <p:sp>
        <p:nvSpPr>
          <p:cNvPr id="4" name="Shape 2"/>
          <p:cNvSpPr/>
          <p:nvPr/>
        </p:nvSpPr>
        <p:spPr>
          <a:xfrm>
            <a:off x="5571439" y="1655064"/>
            <a:ext cx="6108192" cy="3467862"/>
          </a:xfrm>
          <a:prstGeom prst="roundRect">
            <a:avLst>
              <a:gd name="adj" fmla="val 2109"/>
            </a:avLst>
          </a:prstGeom>
          <a:solidFill>
            <a:srgbClr val="222B3B"/>
          </a:solidFill>
          <a:ln w="12700">
            <a:solidFill>
              <a:srgbClr val="7C3AED">
                <a:alpha val="50000"/>
              </a:srgbClr>
            </a:solidFill>
            <a:prstDash val="solid"/>
          </a:ln>
          <a:effectLst>
            <a:outerShdw sx="100000" sy="100000" kx="0" ky="0" algn="bl" rotWithShape="0" blurRad="177800" dist="50800" dir="5400000">
              <a:srgbClr val="000000">
                <a:alpha val="50000"/>
              </a:srgbClr>
            </a:outerShdw>
          </a:effectLst>
        </p:spPr>
      </p:sp>
      <p:pic>
        <p:nvPicPr>
          <p:cNvPr id="5" name="Image 0" descr="/mnt/user-data/outputs/ScubaLens-AI/docs/groundedness-guardrail.png">    </p:cNvPr>
          <p:cNvPicPr>
            <a:picLocks noChangeAspect="1"/>
          </p:cNvPicPr>
          <p:nvPr/>
        </p:nvPicPr>
        <p:blipFill>
          <a:blip r:embed="rId1"/>
          <a:stretch>
            <a:fillRect/>
          </a:stretch>
        </p:blipFill>
        <p:spPr>
          <a:xfrm>
            <a:off x="5608015" y="1691640"/>
            <a:ext cx="6035040" cy="3394710"/>
          </a:xfrm>
          <a:prstGeom prst="rect">
            <a:avLst/>
          </a:prstGeom>
        </p:spPr>
      </p:pic>
      <p:sp>
        <p:nvSpPr>
          <p:cNvPr id="6" name="Shape 3"/>
          <p:cNvSpPr/>
          <p:nvPr/>
        </p:nvSpPr>
        <p:spPr>
          <a:xfrm>
            <a:off x="548640" y="1737360"/>
            <a:ext cx="548640" cy="548640"/>
          </a:xfrm>
          <a:prstGeom prst="ellipse">
            <a:avLst/>
          </a:prstGeom>
          <a:solidFill>
            <a:srgbClr val="34D399">
              <a:alpha val="20000"/>
            </a:srgbClr>
          </a:solidFill>
          <a:ln w="12700">
            <a:solidFill>
              <a:srgbClr val="34D399">
                <a:alpha val="60000"/>
              </a:srgbClr>
            </a:solidFill>
            <a:prstDash val="solid"/>
          </a:ln>
        </p:spPr>
      </p:sp>
      <p:pic>
        <p:nvPicPr>
          <p:cNvPr id="7" name="Image 1" descr="preencoded.png">    </p:cNvPr>
          <p:cNvPicPr>
            <a:picLocks noChangeAspect="1"/>
          </p:cNvPicPr>
          <p:nvPr/>
        </p:nvPicPr>
        <p:blipFill>
          <a:blip r:embed="rId2"/>
          <a:stretch>
            <a:fillRect/>
          </a:stretch>
        </p:blipFill>
        <p:spPr>
          <a:xfrm>
            <a:off x="685800" y="1874520"/>
            <a:ext cx="274320" cy="274320"/>
          </a:xfrm>
          <a:prstGeom prst="rect">
            <a:avLst/>
          </a:prstGeom>
        </p:spPr>
      </p:pic>
      <p:sp>
        <p:nvSpPr>
          <p:cNvPr id="8" name="Text 4"/>
          <p:cNvSpPr txBox="1"/>
          <p:nvPr/>
        </p:nvSpPr>
        <p:spPr>
          <a:xfrm>
            <a:off x="1280160" y="1691640"/>
            <a:ext cx="42976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PII masked before ingestion</a:t>
            </a:r>
            <a:endParaRPr lang="en-US" sz="1600" dirty="0"/>
          </a:p>
        </p:txBody>
      </p:sp>
      <p:sp>
        <p:nvSpPr>
          <p:cNvPr id="9" name="Text 5"/>
          <p:cNvSpPr txBox="1"/>
          <p:nvPr/>
        </p:nvSpPr>
        <p:spPr>
          <a:xfrm>
            <a:off x="1280160" y="2020824"/>
            <a:ext cx="429768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Keyed HMAC tokens replace emails, tenant IDs, IPs, phones and SSNs. Key in Azure Key Vault.</a:t>
            </a:r>
            <a:endParaRPr lang="en-US" sz="1250" dirty="0"/>
          </a:p>
        </p:txBody>
      </p:sp>
      <p:sp>
        <p:nvSpPr>
          <p:cNvPr id="10" name="Shape 6"/>
          <p:cNvSpPr/>
          <p:nvPr/>
        </p:nvSpPr>
        <p:spPr>
          <a:xfrm>
            <a:off x="548640" y="2834640"/>
            <a:ext cx="548640" cy="548640"/>
          </a:xfrm>
          <a:prstGeom prst="ellipse">
            <a:avLst/>
          </a:prstGeom>
          <a:solidFill>
            <a:srgbClr val="FBBF24">
              <a:alpha val="20000"/>
            </a:srgbClr>
          </a:solidFill>
          <a:ln w="12700">
            <a:solidFill>
              <a:srgbClr val="FBBF24">
                <a:alpha val="60000"/>
              </a:srgbClr>
            </a:solidFill>
            <a:prstDash val="solid"/>
          </a:ln>
        </p:spPr>
      </p:sp>
      <p:pic>
        <p:nvPicPr>
          <p:cNvPr id="11" name="Image 2" descr="preencoded.png">    </p:cNvPr>
          <p:cNvPicPr>
            <a:picLocks noChangeAspect="1"/>
          </p:cNvPicPr>
          <p:nvPr/>
        </p:nvPicPr>
        <p:blipFill>
          <a:blip r:embed="rId3"/>
          <a:stretch>
            <a:fillRect/>
          </a:stretch>
        </p:blipFill>
        <p:spPr>
          <a:xfrm>
            <a:off x="685800" y="2971800"/>
            <a:ext cx="274320" cy="274320"/>
          </a:xfrm>
          <a:prstGeom prst="rect">
            <a:avLst/>
          </a:prstGeom>
        </p:spPr>
      </p:pic>
      <p:sp>
        <p:nvSpPr>
          <p:cNvPr id="12" name="Text 7"/>
          <p:cNvSpPr txBox="1"/>
          <p:nvPr/>
        </p:nvSpPr>
        <p:spPr>
          <a:xfrm>
            <a:off x="1280160" y="2788920"/>
            <a:ext cx="42976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Groundedness guardrail</a:t>
            </a:r>
            <a:endParaRPr lang="en-US" sz="1600" dirty="0"/>
          </a:p>
        </p:txBody>
      </p:sp>
      <p:sp>
        <p:nvSpPr>
          <p:cNvPr id="13" name="Text 8"/>
          <p:cNvSpPr txBox="1"/>
          <p:nvPr/>
        </p:nvSpPr>
        <p:spPr>
          <a:xfrm>
            <a:off x="1280160" y="3118104"/>
            <a:ext cx="429768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"Confirm we're compliant with MFA" is blocked and the failing control is shown.</a:t>
            </a:r>
            <a:endParaRPr lang="en-US" sz="1250" dirty="0"/>
          </a:p>
        </p:txBody>
      </p:sp>
      <p:sp>
        <p:nvSpPr>
          <p:cNvPr id="14" name="Shape 9"/>
          <p:cNvSpPr/>
          <p:nvPr/>
        </p:nvSpPr>
        <p:spPr>
          <a:xfrm>
            <a:off x="548640" y="3931920"/>
            <a:ext cx="548640" cy="548640"/>
          </a:xfrm>
          <a:prstGeom prst="ellipse">
            <a:avLst/>
          </a:prstGeom>
          <a:solidFill>
            <a:srgbClr val="A78BFA">
              <a:alpha val="20000"/>
            </a:srgbClr>
          </a:solidFill>
          <a:ln w="12700">
            <a:solidFill>
              <a:srgbClr val="A78BFA">
                <a:alpha val="60000"/>
              </a:srgbClr>
            </a:solidFill>
            <a:prstDash val="solid"/>
          </a:ln>
        </p:spPr>
      </p:sp>
      <p:pic>
        <p:nvPicPr>
          <p:cNvPr id="15" name="Image 3" descr="preencoded.png">    </p:cNvPr>
          <p:cNvPicPr>
            <a:picLocks noChangeAspect="1"/>
          </p:cNvPicPr>
          <p:nvPr/>
        </p:nvPicPr>
        <p:blipFill>
          <a:blip r:embed="rId4"/>
          <a:stretch>
            <a:fillRect/>
          </a:stretch>
        </p:blipFill>
        <p:spPr>
          <a:xfrm>
            <a:off x="685800" y="4069080"/>
            <a:ext cx="274320" cy="274320"/>
          </a:xfrm>
          <a:prstGeom prst="rect">
            <a:avLst/>
          </a:prstGeom>
        </p:spPr>
      </p:pic>
      <p:sp>
        <p:nvSpPr>
          <p:cNvPr id="16" name="Text 10"/>
          <p:cNvSpPr txBox="1"/>
          <p:nvPr/>
        </p:nvSpPr>
        <p:spPr>
          <a:xfrm>
            <a:off x="1280160" y="3886200"/>
            <a:ext cx="42976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42 automated safety tests</a:t>
            </a:r>
            <a:endParaRPr lang="en-US" sz="1600" dirty="0"/>
          </a:p>
        </p:txBody>
      </p:sp>
      <p:sp>
        <p:nvSpPr>
          <p:cNvPr id="17" name="Text 11"/>
          <p:cNvSpPr txBox="1"/>
          <p:nvPr/>
        </p:nvSpPr>
        <p:spPr>
          <a:xfrm>
            <a:off x="1280160" y="4215384"/>
            <a:ext cx="429768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Every fix must stay Report-Only, exclude break-glass accounts and save a rollback file.</a:t>
            </a:r>
            <a:endParaRPr lang="en-US" sz="1250" dirty="0"/>
          </a:p>
        </p:txBody>
      </p:sp>
      <p:sp>
        <p:nvSpPr>
          <p:cNvPr id="18" name="Shape 12"/>
          <p:cNvSpPr/>
          <p:nvPr/>
        </p:nvSpPr>
        <p:spPr>
          <a:xfrm>
            <a:off x="548640" y="5029200"/>
            <a:ext cx="548640" cy="548640"/>
          </a:xfrm>
          <a:prstGeom prst="ellipse">
            <a:avLst/>
          </a:prstGeom>
          <a:solidFill>
            <a:srgbClr val="FB7185">
              <a:alpha val="20000"/>
            </a:srgbClr>
          </a:solidFill>
          <a:ln w="12700">
            <a:solidFill>
              <a:srgbClr val="FB7185">
                <a:alpha val="60000"/>
              </a:srgbClr>
            </a:solidFill>
            <a:prstDash val="solid"/>
          </a:ln>
        </p:spPr>
      </p:sp>
      <p:pic>
        <p:nvPicPr>
          <p:cNvPr id="19" name="Image 4" descr="preencoded.png">    </p:cNvPr>
          <p:cNvPicPr>
            <a:picLocks noChangeAspect="1"/>
          </p:cNvPicPr>
          <p:nvPr/>
        </p:nvPicPr>
        <p:blipFill>
          <a:blip r:embed="rId5"/>
          <a:stretch>
            <a:fillRect/>
          </a:stretch>
        </p:blipFill>
        <p:spPr>
          <a:xfrm>
            <a:off x="685800" y="5166360"/>
            <a:ext cx="274320" cy="274320"/>
          </a:xfrm>
          <a:prstGeom prst="rect">
            <a:avLst/>
          </a:prstGeom>
        </p:spPr>
      </p:pic>
      <p:sp>
        <p:nvSpPr>
          <p:cNvPr id="20" name="Text 13"/>
          <p:cNvSpPr txBox="1"/>
          <p:nvPr/>
        </p:nvSpPr>
        <p:spPr>
          <a:xfrm>
            <a:off x="1280160" y="4983480"/>
            <a:ext cx="42976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Tamper test</a:t>
            </a:r>
            <a:endParaRPr lang="en-US" sz="1600" dirty="0"/>
          </a:p>
        </p:txBody>
      </p:sp>
      <p:sp>
        <p:nvSpPr>
          <p:cNvPr id="21" name="Text 14"/>
          <p:cNvSpPr txBox="1"/>
          <p:nvPr/>
        </p:nvSpPr>
        <p:spPr>
          <a:xfrm>
            <a:off x="1280160" y="5312664"/>
            <a:ext cx="429768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Change a fix to "enforced" and the safety gate fails with exit code 1.</a:t>
            </a:r>
            <a:endParaRPr lang="en-US" sz="1250" dirty="0"/>
          </a:p>
        </p:txBody>
      </p:sp>
      <p:sp>
        <p:nvSpPr>
          <p:cNvPr id="22" name="Text 15"/>
          <p:cNvSpPr txBox="1"/>
          <p:nvPr/>
        </p:nvSpPr>
        <p:spPr>
          <a:xfrm>
            <a:off x="5608015" y="5303520"/>
            <a:ext cx="6035040" cy="5486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Tests run on GitHub on every push. The OSCAL export passes validation with the open-source compliance-trestle toolkit.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AZURE ARCHITECTURE</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Built on Microsoft Cloud</a:t>
            </a:r>
            <a:endParaRPr lang="en-US" sz="3400" dirty="0"/>
          </a:p>
        </p:txBody>
      </p:sp>
      <p:sp>
        <p:nvSpPr>
          <p:cNvPr id="4" name="Shape 2"/>
          <p:cNvSpPr/>
          <p:nvPr/>
        </p:nvSpPr>
        <p:spPr>
          <a:xfrm>
            <a:off x="512064" y="1655064"/>
            <a:ext cx="6839712" cy="3879342"/>
          </a:xfrm>
          <a:prstGeom prst="roundRect">
            <a:avLst>
              <a:gd name="adj" fmla="val 1886"/>
            </a:avLst>
          </a:prstGeom>
          <a:solidFill>
            <a:srgbClr val="222B3B"/>
          </a:solidFill>
          <a:ln w="12700">
            <a:solidFill>
              <a:srgbClr val="7C3AED">
                <a:alpha val="50000"/>
              </a:srgbClr>
            </a:solidFill>
            <a:prstDash val="solid"/>
          </a:ln>
          <a:effectLst>
            <a:outerShdw sx="100000" sy="100000" kx="0" ky="0" algn="bl" rotWithShape="0" blurRad="177800" dist="50800" dir="5400000">
              <a:srgbClr val="000000">
                <a:alpha val="50000"/>
              </a:srgbClr>
            </a:outerShdw>
          </a:effectLst>
        </p:spPr>
      </p:sp>
      <p:pic>
        <p:nvPicPr>
          <p:cNvPr id="5" name="Image 0" descr="/mnt/user-data/outputs/ScubaLens-AI/docs/azure-architecture.png">    </p:cNvPr>
          <p:cNvPicPr>
            <a:picLocks noChangeAspect="1"/>
          </p:cNvPicPr>
          <p:nvPr/>
        </p:nvPicPr>
        <p:blipFill>
          <a:blip r:embed="rId1"/>
          <a:stretch>
            <a:fillRect/>
          </a:stretch>
        </p:blipFill>
        <p:spPr>
          <a:xfrm>
            <a:off x="548640" y="1691640"/>
            <a:ext cx="6766560" cy="3806190"/>
          </a:xfrm>
          <a:prstGeom prst="rect">
            <a:avLst/>
          </a:prstGeom>
        </p:spPr>
      </p:pic>
      <p:sp>
        <p:nvSpPr>
          <p:cNvPr id="6" name="Text 3"/>
          <p:cNvSpPr txBox="1"/>
          <p:nvPr/>
        </p:nvSpPr>
        <p:spPr>
          <a:xfrm>
            <a:off x="7680960" y="1691640"/>
            <a:ext cx="3962095" cy="27432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Fabric IQ</a:t>
            </a:r>
            <a:endParaRPr lang="en-US" sz="1400" dirty="0"/>
          </a:p>
        </p:txBody>
      </p:sp>
      <p:sp>
        <p:nvSpPr>
          <p:cNvPr id="7" name="Text 4"/>
          <p:cNvSpPr txBox="1"/>
          <p:nvPr/>
        </p:nvSpPr>
        <p:spPr>
          <a:xfrm>
            <a:off x="7680960" y="1965960"/>
            <a:ext cx="3962095" cy="45720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Ontology linking control, product, owner, finding and fix, over scan history in OneLake</a:t>
            </a:r>
            <a:endParaRPr lang="en-US" sz="1150" dirty="0"/>
          </a:p>
        </p:txBody>
      </p:sp>
      <p:sp>
        <p:nvSpPr>
          <p:cNvPr id="8" name="Text 5"/>
          <p:cNvSpPr txBox="1"/>
          <p:nvPr/>
        </p:nvSpPr>
        <p:spPr>
          <a:xfrm>
            <a:off x="7680960" y="2478024"/>
            <a:ext cx="3962095" cy="27432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Foundry IQ</a:t>
            </a:r>
            <a:endParaRPr lang="en-US" sz="1400" dirty="0"/>
          </a:p>
        </p:txBody>
      </p:sp>
      <p:sp>
        <p:nvSpPr>
          <p:cNvPr id="9" name="Text 6"/>
          <p:cNvSpPr txBox="1"/>
          <p:nvPr/>
        </p:nvSpPr>
        <p:spPr>
          <a:xfrm>
            <a:off x="7680960" y="2752344"/>
            <a:ext cx="3962095" cy="45720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Agentic retrieval across SCuBA baselines, NIST 800-53 and approved templates, with citations</a:t>
            </a:r>
            <a:endParaRPr lang="en-US" sz="1150" dirty="0"/>
          </a:p>
        </p:txBody>
      </p:sp>
      <p:sp>
        <p:nvSpPr>
          <p:cNvPr id="10" name="Text 7"/>
          <p:cNvSpPr txBox="1"/>
          <p:nvPr/>
        </p:nvSpPr>
        <p:spPr>
          <a:xfrm>
            <a:off x="7680960" y="3264408"/>
            <a:ext cx="3962095" cy="27432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Microsoft Foundry (live)</a:t>
            </a:r>
            <a:endParaRPr lang="en-US" sz="1400" dirty="0"/>
          </a:p>
        </p:txBody>
      </p:sp>
      <p:sp>
        <p:nvSpPr>
          <p:cNvPr id="11" name="Text 8"/>
          <p:cNvSpPr txBox="1"/>
          <p:nvPr/>
        </p:nvSpPr>
        <p:spPr>
          <a:xfrm>
            <a:off x="7680960" y="3538728"/>
            <a:ext cx="3962095" cy="45720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gpt-4.1-mini deployed (West US 3) explains masked findings; every line is checked against the scan</a:t>
            </a:r>
            <a:endParaRPr lang="en-US" sz="1150" dirty="0"/>
          </a:p>
        </p:txBody>
      </p:sp>
      <p:sp>
        <p:nvSpPr>
          <p:cNvPr id="12" name="Text 9"/>
          <p:cNvSpPr txBox="1"/>
          <p:nvPr/>
        </p:nvSpPr>
        <p:spPr>
          <a:xfrm>
            <a:off x="7680960" y="4050792"/>
            <a:ext cx="3962095" cy="27432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Entra ID · Key Vault · Purview</a:t>
            </a:r>
            <a:endParaRPr lang="en-US" sz="1400" dirty="0"/>
          </a:p>
        </p:txBody>
      </p:sp>
      <p:sp>
        <p:nvSpPr>
          <p:cNvPr id="13" name="Text 10"/>
          <p:cNvSpPr txBox="1"/>
          <p:nvPr/>
        </p:nvSpPr>
        <p:spPr>
          <a:xfrm>
            <a:off x="7680960" y="4325112"/>
            <a:ext cx="3962095" cy="45720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Sign-in, managed identities, masking keys, audited re-identification</a:t>
            </a:r>
            <a:endParaRPr lang="en-US" sz="1150" dirty="0"/>
          </a:p>
        </p:txBody>
      </p:sp>
      <p:sp>
        <p:nvSpPr>
          <p:cNvPr id="14" name="Text 11"/>
          <p:cNvSpPr txBox="1"/>
          <p:nvPr/>
        </p:nvSpPr>
        <p:spPr>
          <a:xfrm>
            <a:off x="7680960" y="4837176"/>
            <a:ext cx="3962095" cy="27432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Teams &amp; M365 Copilot</a:t>
            </a:r>
            <a:endParaRPr lang="en-US" sz="1400" dirty="0"/>
          </a:p>
        </p:txBody>
      </p:sp>
      <p:sp>
        <p:nvSpPr>
          <p:cNvPr id="15" name="Text 12"/>
          <p:cNvSpPr txBox="1"/>
          <p:nvPr/>
        </p:nvSpPr>
        <p:spPr>
          <a:xfrm>
            <a:off x="7680960" y="5111496"/>
            <a:ext cx="3962095" cy="45720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Agent published where analysts already work (roadmap)</a:t>
            </a:r>
            <a:endParaRPr lang="en-US" sz="1150" dirty="0"/>
          </a:p>
        </p:txBody>
      </p:sp>
      <p:sp>
        <p:nvSpPr>
          <p:cNvPr id="16" name="Text 13"/>
          <p:cNvSpPr txBox="1"/>
          <p:nvPr/>
        </p:nvSpPr>
        <p:spPr>
          <a:xfrm>
            <a:off x="548640" y="5715000"/>
            <a:ext cx="676656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Live today: masking, fix templates, safety tests, OSCAL export and the Microsoft Foundry call. Designed: Fabric IQ, Foundry IQ, hosted back end.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APPROACH &amp; KEY LEARNINGS</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How we approached it, and what we learned</a:t>
            </a:r>
            <a:endParaRPr lang="en-US" sz="3400" dirty="0"/>
          </a:p>
        </p:txBody>
      </p:sp>
      <p:sp>
        <p:nvSpPr>
          <p:cNvPr id="4" name="Shape 2"/>
          <p:cNvSpPr/>
          <p:nvPr/>
        </p:nvSpPr>
        <p:spPr>
          <a:xfrm>
            <a:off x="548640" y="1691640"/>
            <a:ext cx="5410048" cy="1965960"/>
          </a:xfrm>
          <a:prstGeom prst="roundRect">
            <a:avLst>
              <a:gd name="adj" fmla="val 5581"/>
            </a:avLst>
          </a:prstGeom>
          <a:solidFill>
            <a:srgbClr val="111723"/>
          </a:solidFill>
          <a:ln w="12700">
            <a:solidFill>
              <a:srgbClr val="222B3B"/>
            </a:solidFill>
            <a:prstDash val="solid"/>
          </a:ln>
        </p:spPr>
      </p:sp>
      <p:sp>
        <p:nvSpPr>
          <p:cNvPr id="5" name="Shape 3"/>
          <p:cNvSpPr/>
          <p:nvPr/>
        </p:nvSpPr>
        <p:spPr>
          <a:xfrm>
            <a:off x="822960" y="1965960"/>
            <a:ext cx="640080" cy="640080"/>
          </a:xfrm>
          <a:prstGeom prst="ellipse">
            <a:avLst/>
          </a:prstGeom>
          <a:solidFill>
            <a:srgbClr val="A78BFA">
              <a:alpha val="20000"/>
            </a:srgbClr>
          </a:solidFill>
          <a:ln w="12700">
            <a:solidFill>
              <a:srgbClr val="A78BFA">
                <a:alpha val="60000"/>
              </a:srgbClr>
            </a:solidFill>
            <a:prstDash val="solid"/>
          </a:ln>
        </p:spPr>
      </p:sp>
      <p:pic>
        <p:nvPicPr>
          <p:cNvPr id="6" name="Image 0" descr="preencoded.png">    </p:cNvPr>
          <p:cNvPicPr>
            <a:picLocks noChangeAspect="1"/>
          </p:cNvPicPr>
          <p:nvPr/>
        </p:nvPicPr>
        <p:blipFill>
          <a:blip r:embed="rId1"/>
          <a:stretch>
            <a:fillRect/>
          </a:stretch>
        </p:blipFill>
        <p:spPr>
          <a:xfrm>
            <a:off x="982980" y="2125980"/>
            <a:ext cx="320040" cy="320040"/>
          </a:xfrm>
          <a:prstGeom prst="rect">
            <a:avLst/>
          </a:prstGeom>
        </p:spPr>
      </p:pic>
      <p:sp>
        <p:nvSpPr>
          <p:cNvPr id="7" name="Text 4"/>
          <p:cNvSpPr txBox="1"/>
          <p:nvPr/>
        </p:nvSpPr>
        <p:spPr>
          <a:xfrm>
            <a:off x="1645920" y="1965960"/>
            <a:ext cx="4038448"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We started with a chatbot, then changed course</a:t>
            </a:r>
            <a:endParaRPr lang="en-US" sz="1700" dirty="0"/>
          </a:p>
        </p:txBody>
      </p:sp>
      <p:sp>
        <p:nvSpPr>
          <p:cNvPr id="8" name="Text 5"/>
          <p:cNvSpPr txBox="1"/>
          <p:nvPr/>
        </p:nvSpPr>
        <p:spPr>
          <a:xfrm>
            <a:off x="1645920" y="2606040"/>
            <a:ext cx="4038448" cy="9601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Every other SCuBA team was building OSCAL conversion or Q&amp;A. The gap nobody closed was the fix itself, so ScubaLens became a remediation tool.</a:t>
            </a:r>
            <a:endParaRPr lang="en-US" sz="1300" dirty="0"/>
          </a:p>
        </p:txBody>
      </p:sp>
      <p:sp>
        <p:nvSpPr>
          <p:cNvPr id="9" name="Shape 6"/>
          <p:cNvSpPr/>
          <p:nvPr/>
        </p:nvSpPr>
        <p:spPr>
          <a:xfrm>
            <a:off x="6233008" y="1691640"/>
            <a:ext cx="5410048" cy="1965960"/>
          </a:xfrm>
          <a:prstGeom prst="roundRect">
            <a:avLst>
              <a:gd name="adj" fmla="val 5581"/>
            </a:avLst>
          </a:prstGeom>
          <a:solidFill>
            <a:srgbClr val="111723"/>
          </a:solidFill>
          <a:ln w="12700">
            <a:solidFill>
              <a:srgbClr val="222B3B"/>
            </a:solidFill>
            <a:prstDash val="solid"/>
          </a:ln>
        </p:spPr>
      </p:sp>
      <p:sp>
        <p:nvSpPr>
          <p:cNvPr id="10" name="Shape 7"/>
          <p:cNvSpPr/>
          <p:nvPr/>
        </p:nvSpPr>
        <p:spPr>
          <a:xfrm>
            <a:off x="6507328" y="1965960"/>
            <a:ext cx="640080" cy="640080"/>
          </a:xfrm>
          <a:prstGeom prst="ellipse">
            <a:avLst/>
          </a:prstGeom>
          <a:solidFill>
            <a:srgbClr val="38BDF8">
              <a:alpha val="20000"/>
            </a:srgbClr>
          </a:solidFill>
          <a:ln w="12700">
            <a:solidFill>
              <a:srgbClr val="38BDF8">
                <a:alpha val="60000"/>
              </a:srgbClr>
            </a:solidFill>
            <a:prstDash val="solid"/>
          </a:ln>
        </p:spPr>
      </p:sp>
      <p:pic>
        <p:nvPicPr>
          <p:cNvPr id="11" name="Image 1" descr="preencoded.png">    </p:cNvPr>
          <p:cNvPicPr>
            <a:picLocks noChangeAspect="1"/>
          </p:cNvPicPr>
          <p:nvPr/>
        </p:nvPicPr>
        <p:blipFill>
          <a:blip r:embed="rId2"/>
          <a:stretch>
            <a:fillRect/>
          </a:stretch>
        </p:blipFill>
        <p:spPr>
          <a:xfrm>
            <a:off x="6667348" y="2125980"/>
            <a:ext cx="320040" cy="320040"/>
          </a:xfrm>
          <a:prstGeom prst="rect">
            <a:avLst/>
          </a:prstGeom>
        </p:spPr>
      </p:pic>
      <p:sp>
        <p:nvSpPr>
          <p:cNvPr id="12" name="Text 8"/>
          <p:cNvSpPr txBox="1"/>
          <p:nvPr/>
        </p:nvSpPr>
        <p:spPr>
          <a:xfrm>
            <a:off x="7330288" y="1965960"/>
            <a:ext cx="4038448"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Templates beat free-form AI code</a:t>
            </a:r>
            <a:endParaRPr lang="en-US" sz="1700" dirty="0"/>
          </a:p>
        </p:txBody>
      </p:sp>
      <p:sp>
        <p:nvSpPr>
          <p:cNvPr id="13" name="Text 9"/>
          <p:cNvSpPr txBox="1"/>
          <p:nvPr/>
        </p:nvSpPr>
        <p:spPr>
          <a:xfrm>
            <a:off x="7330288" y="2606040"/>
            <a:ext cx="4038448" cy="9601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A federal tenant cannot run code no one tested. The AI explains and selects; pre-approved, tested templates do the changing.</a:t>
            </a:r>
            <a:endParaRPr lang="en-US" sz="1300" dirty="0"/>
          </a:p>
        </p:txBody>
      </p:sp>
      <p:sp>
        <p:nvSpPr>
          <p:cNvPr id="14" name="Shape 10"/>
          <p:cNvSpPr/>
          <p:nvPr/>
        </p:nvSpPr>
        <p:spPr>
          <a:xfrm>
            <a:off x="548640" y="3931920"/>
            <a:ext cx="5410048" cy="1965960"/>
          </a:xfrm>
          <a:prstGeom prst="roundRect">
            <a:avLst>
              <a:gd name="adj" fmla="val 5581"/>
            </a:avLst>
          </a:prstGeom>
          <a:solidFill>
            <a:srgbClr val="111723"/>
          </a:solidFill>
          <a:ln w="12700">
            <a:solidFill>
              <a:srgbClr val="222B3B"/>
            </a:solidFill>
            <a:prstDash val="solid"/>
          </a:ln>
        </p:spPr>
      </p:sp>
      <p:sp>
        <p:nvSpPr>
          <p:cNvPr id="15" name="Shape 11"/>
          <p:cNvSpPr/>
          <p:nvPr/>
        </p:nvSpPr>
        <p:spPr>
          <a:xfrm>
            <a:off x="822960" y="4206240"/>
            <a:ext cx="640080" cy="640080"/>
          </a:xfrm>
          <a:prstGeom prst="ellipse">
            <a:avLst/>
          </a:prstGeom>
          <a:solidFill>
            <a:srgbClr val="FBBF24">
              <a:alpha val="20000"/>
            </a:srgbClr>
          </a:solidFill>
          <a:ln w="12700">
            <a:solidFill>
              <a:srgbClr val="FBBF24">
                <a:alpha val="60000"/>
              </a:srgbClr>
            </a:solidFill>
            <a:prstDash val="solid"/>
          </a:ln>
        </p:spPr>
      </p:sp>
      <p:pic>
        <p:nvPicPr>
          <p:cNvPr id="16" name="Image 2" descr="preencoded.png">    </p:cNvPr>
          <p:cNvPicPr>
            <a:picLocks noChangeAspect="1"/>
          </p:cNvPicPr>
          <p:nvPr/>
        </p:nvPicPr>
        <p:blipFill>
          <a:blip r:embed="rId3"/>
          <a:stretch>
            <a:fillRect/>
          </a:stretch>
        </p:blipFill>
        <p:spPr>
          <a:xfrm>
            <a:off x="982980" y="4366260"/>
            <a:ext cx="320040" cy="320040"/>
          </a:xfrm>
          <a:prstGeom prst="rect">
            <a:avLst/>
          </a:prstGeom>
        </p:spPr>
      </p:pic>
      <p:sp>
        <p:nvSpPr>
          <p:cNvPr id="17" name="Text 12"/>
          <p:cNvSpPr txBox="1"/>
          <p:nvPr/>
        </p:nvSpPr>
        <p:spPr>
          <a:xfrm>
            <a:off x="1645920" y="4206240"/>
            <a:ext cx="4038448"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Real data changed our numbers</a:t>
            </a:r>
            <a:endParaRPr lang="en-US" sz="1700" dirty="0"/>
          </a:p>
        </p:txBody>
      </p:sp>
      <p:sp>
        <p:nvSpPr>
          <p:cNvPr id="18" name="Text 13"/>
          <p:cNvSpPr txBox="1"/>
          <p:nvPr/>
        </p:nvSpPr>
        <p:spPr>
          <a:xfrm>
            <a:off x="1645920" y="4846320"/>
            <a:ext cx="4038448" cy="9601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Our demo showed 3 failures. CISA's own sample showed 14, and only 5 had safe templates. Showing the other 9 as "routed to an engineer" made the tool more honest, not weaker.</a:t>
            </a:r>
            <a:endParaRPr lang="en-US" sz="1300" dirty="0"/>
          </a:p>
        </p:txBody>
      </p:sp>
      <p:sp>
        <p:nvSpPr>
          <p:cNvPr id="19" name="Shape 14"/>
          <p:cNvSpPr/>
          <p:nvPr/>
        </p:nvSpPr>
        <p:spPr>
          <a:xfrm>
            <a:off x="6233008" y="3931920"/>
            <a:ext cx="5410048" cy="1965960"/>
          </a:xfrm>
          <a:prstGeom prst="roundRect">
            <a:avLst>
              <a:gd name="adj" fmla="val 5581"/>
            </a:avLst>
          </a:prstGeom>
          <a:solidFill>
            <a:srgbClr val="111723"/>
          </a:solidFill>
          <a:ln w="12700">
            <a:solidFill>
              <a:srgbClr val="222B3B"/>
            </a:solidFill>
            <a:prstDash val="solid"/>
          </a:ln>
        </p:spPr>
      </p:sp>
      <p:sp>
        <p:nvSpPr>
          <p:cNvPr id="20" name="Shape 15"/>
          <p:cNvSpPr/>
          <p:nvPr/>
        </p:nvSpPr>
        <p:spPr>
          <a:xfrm>
            <a:off x="6507328" y="4206240"/>
            <a:ext cx="640080" cy="640080"/>
          </a:xfrm>
          <a:prstGeom prst="ellipse">
            <a:avLst/>
          </a:prstGeom>
          <a:solidFill>
            <a:srgbClr val="34D399">
              <a:alpha val="20000"/>
            </a:srgbClr>
          </a:solidFill>
          <a:ln w="12700">
            <a:solidFill>
              <a:srgbClr val="34D399">
                <a:alpha val="60000"/>
              </a:srgbClr>
            </a:solidFill>
            <a:prstDash val="solid"/>
          </a:ln>
        </p:spPr>
      </p:sp>
      <p:pic>
        <p:nvPicPr>
          <p:cNvPr id="21" name="Image 3" descr="preencoded.png">    </p:cNvPr>
          <p:cNvPicPr>
            <a:picLocks noChangeAspect="1"/>
          </p:cNvPicPr>
          <p:nvPr/>
        </p:nvPicPr>
        <p:blipFill>
          <a:blip r:embed="rId4"/>
          <a:stretch>
            <a:fillRect/>
          </a:stretch>
        </p:blipFill>
        <p:spPr>
          <a:xfrm>
            <a:off x="6667348" y="4366260"/>
            <a:ext cx="320040" cy="320040"/>
          </a:xfrm>
          <a:prstGeom prst="rect">
            <a:avLst/>
          </a:prstGeom>
        </p:spPr>
      </p:pic>
      <p:sp>
        <p:nvSpPr>
          <p:cNvPr id="22" name="Text 16"/>
          <p:cNvSpPr txBox="1"/>
          <p:nvPr/>
        </p:nvSpPr>
        <p:spPr>
          <a:xfrm>
            <a:off x="7330288" y="4206240"/>
            <a:ext cx="4038448"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Tests are the Responsible AI story</a:t>
            </a:r>
            <a:endParaRPr lang="en-US" sz="1700" dirty="0"/>
          </a:p>
        </p:txBody>
      </p:sp>
      <p:sp>
        <p:nvSpPr>
          <p:cNvPr id="23" name="Text 17"/>
          <p:cNvSpPr txBox="1"/>
          <p:nvPr/>
        </p:nvSpPr>
        <p:spPr>
          <a:xfrm>
            <a:off x="7330288" y="4846320"/>
            <a:ext cx="4038448" cy="9601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Promises are easy to write. A tamper test that fails the build when a fix turns unsafe is what makes the safety claim believable.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IMPACT</a:t>
            </a:r>
            <a:endParaRPr lang="en-US" sz="12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Economic value &amp; societal impact</a:t>
            </a:r>
            <a:endParaRPr lang="en-US" sz="3400" dirty="0"/>
          </a:p>
        </p:txBody>
      </p:sp>
      <p:sp>
        <p:nvSpPr>
          <p:cNvPr id="4" name="Shape 2"/>
          <p:cNvSpPr/>
          <p:nvPr/>
        </p:nvSpPr>
        <p:spPr>
          <a:xfrm>
            <a:off x="548640" y="1691640"/>
            <a:ext cx="5394960" cy="3931920"/>
          </a:xfrm>
          <a:prstGeom prst="roundRect">
            <a:avLst>
              <a:gd name="adj" fmla="val 2791"/>
            </a:avLst>
          </a:prstGeom>
          <a:solidFill>
            <a:srgbClr val="111723"/>
          </a:solidFill>
          <a:ln w="12700">
            <a:solidFill>
              <a:srgbClr val="222B3B"/>
            </a:solidFill>
            <a:prstDash val="solid"/>
          </a:ln>
        </p:spPr>
      </p:sp>
      <p:sp>
        <p:nvSpPr>
          <p:cNvPr id="5" name="Text 3"/>
          <p:cNvSpPr txBox="1"/>
          <p:nvPr/>
        </p:nvSpPr>
        <p:spPr>
          <a:xfrm>
            <a:off x="868680" y="1920240"/>
            <a:ext cx="4754880" cy="320040"/>
          </a:xfrm>
          <a:prstGeom prst="rect">
            <a:avLst/>
          </a:prstGeom>
          <a:noFill/>
          <a:ln/>
        </p:spPr>
        <p:txBody>
          <a:bodyPr wrap="square" lIns="0" tIns="0" rIns="0" bIns="0" rtlCol="0" anchor="ctr"/>
          <a:lstStyle/>
          <a:p>
            <a:pPr indent="0" marL="0">
              <a:buNone/>
            </a:pPr>
            <a:r>
              <a:rPr lang="en-US" sz="1500" b="1" dirty="0">
                <a:solidFill>
                  <a:srgbClr val="E2E8F0"/>
                </a:solidFill>
                <a:latin typeface="Calibri" pitchFamily="34" charset="0"/>
                <a:ea typeface="Calibri" pitchFamily="34" charset="-122"/>
                <a:cs typeface="Calibri" pitchFamily="34" charset="-120"/>
              </a:rPr>
              <a:t>Illustrative ROI</a:t>
            </a:r>
            <a:endParaRPr lang="en-US" sz="1500" dirty="0"/>
          </a:p>
        </p:txBody>
      </p:sp>
      <p:sp>
        <p:nvSpPr>
          <p:cNvPr id="6" name="Text 4"/>
          <p:cNvSpPr txBox="1"/>
          <p:nvPr/>
        </p:nvSpPr>
        <p:spPr>
          <a:xfrm>
            <a:off x="868680" y="2331720"/>
            <a:ext cx="2377440" cy="731520"/>
          </a:xfrm>
          <a:prstGeom prst="rect">
            <a:avLst/>
          </a:prstGeom>
          <a:noFill/>
          <a:ln/>
        </p:spPr>
        <p:txBody>
          <a:bodyPr wrap="square" lIns="0" tIns="0" rIns="0" bIns="0" rtlCol="0" anchor="ctr"/>
          <a:lstStyle/>
          <a:p>
            <a:pPr indent="0" marL="0">
              <a:buNone/>
            </a:pPr>
            <a:r>
              <a:rPr lang="en-US" sz="3600" b="1" dirty="0">
                <a:solidFill>
                  <a:srgbClr val="A78BFA"/>
                </a:solidFill>
                <a:latin typeface="Arial" pitchFamily="34" charset="0"/>
                <a:ea typeface="Arial" pitchFamily="34" charset="-122"/>
                <a:cs typeface="Arial" pitchFamily="34" charset="-120"/>
              </a:rPr>
              <a:t>560 hrs</a:t>
            </a:r>
            <a:endParaRPr lang="en-US" sz="3600" dirty="0"/>
          </a:p>
        </p:txBody>
      </p:sp>
      <p:sp>
        <p:nvSpPr>
          <p:cNvPr id="7" name="Text 5"/>
          <p:cNvSpPr txBox="1"/>
          <p:nvPr/>
        </p:nvSpPr>
        <p:spPr>
          <a:xfrm>
            <a:off x="868680" y="3063240"/>
            <a:ext cx="237744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saved per tenant per year (~$53,200)</a:t>
            </a:r>
            <a:endParaRPr lang="en-US" sz="1200" dirty="0"/>
          </a:p>
        </p:txBody>
      </p:sp>
      <p:sp>
        <p:nvSpPr>
          <p:cNvPr id="8" name="Text 6"/>
          <p:cNvSpPr txBox="1"/>
          <p:nvPr/>
        </p:nvSpPr>
        <p:spPr>
          <a:xfrm>
            <a:off x="3383280" y="2331720"/>
            <a:ext cx="2286000" cy="731520"/>
          </a:xfrm>
          <a:prstGeom prst="rect">
            <a:avLst/>
          </a:prstGeom>
          <a:noFill/>
          <a:ln/>
        </p:spPr>
        <p:txBody>
          <a:bodyPr wrap="square" lIns="0" tIns="0" rIns="0" bIns="0" rtlCol="0" anchor="ctr"/>
          <a:lstStyle/>
          <a:p>
            <a:pPr indent="0" marL="0">
              <a:buNone/>
            </a:pPr>
            <a:r>
              <a:rPr lang="en-US" sz="3600" b="1" dirty="0">
                <a:solidFill>
                  <a:srgbClr val="34D399"/>
                </a:solidFill>
                <a:latin typeface="Arial" pitchFamily="34" charset="0"/>
                <a:ea typeface="Arial" pitchFamily="34" charset="-122"/>
                <a:cs typeface="Arial" pitchFamily="34" charset="-120"/>
              </a:rPr>
              <a:t>$532K</a:t>
            </a:r>
            <a:endParaRPr lang="en-US" sz="3600" dirty="0"/>
          </a:p>
        </p:txBody>
      </p:sp>
      <p:sp>
        <p:nvSpPr>
          <p:cNvPr id="9" name="Text 7"/>
          <p:cNvSpPr txBox="1"/>
          <p:nvPr/>
        </p:nvSpPr>
        <p:spPr>
          <a:xfrm>
            <a:off x="3383280" y="3063240"/>
            <a:ext cx="228600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 year for a 10-tenant agency (~5,600 hrs)</a:t>
            </a:r>
            <a:endParaRPr lang="en-US" sz="1200" dirty="0"/>
          </a:p>
        </p:txBody>
      </p:sp>
      <p:sp>
        <p:nvSpPr>
          <p:cNvPr id="10" name="Text 8"/>
          <p:cNvSpPr txBox="1"/>
          <p:nvPr/>
        </p:nvSpPr>
        <p:spPr>
          <a:xfrm>
            <a:off x="868680" y="3886200"/>
            <a:ext cx="4754880" cy="8229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Assumptions: 40 non-passing controls per quarterly scan; 4 analyst hours per manual fix vs 0.5 hours to review a ScubaLens script; $95/hour loaded cost. Replace with agency data.</a:t>
            </a:r>
            <a:endParaRPr lang="en-US" sz="1100" dirty="0"/>
          </a:p>
        </p:txBody>
      </p:sp>
      <p:sp>
        <p:nvSpPr>
          <p:cNvPr id="11" name="Text 9"/>
          <p:cNvSpPr txBox="1"/>
          <p:nvPr/>
        </p:nvSpPr>
        <p:spPr>
          <a:xfrm>
            <a:off x="868680" y="4663440"/>
            <a:ext cx="4754880" cy="82296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Societal impact: these tenants hold citizens' tax, benefits and health records. Closing phishing-resistant MFA and legacy-auth gaps directly shuts down credential-theft attacks.</a:t>
            </a:r>
            <a:endParaRPr lang="en-US" sz="1200" dirty="0"/>
          </a:p>
        </p:txBody>
      </p:sp>
      <p:sp>
        <p:nvSpPr>
          <p:cNvPr id="12" name="Shape 10"/>
          <p:cNvSpPr/>
          <p:nvPr/>
        </p:nvSpPr>
        <p:spPr>
          <a:xfrm>
            <a:off x="6309360" y="1691640"/>
            <a:ext cx="5333695" cy="1828800"/>
          </a:xfrm>
          <a:prstGeom prst="roundRect">
            <a:avLst>
              <a:gd name="adj" fmla="val 6000"/>
            </a:avLst>
          </a:prstGeom>
          <a:solidFill>
            <a:srgbClr val="111723"/>
          </a:solidFill>
          <a:ln w="12700">
            <a:solidFill>
              <a:srgbClr val="222B3B"/>
            </a:solidFill>
            <a:prstDash val="solid"/>
          </a:ln>
        </p:spPr>
      </p:sp>
      <p:sp>
        <p:nvSpPr>
          <p:cNvPr id="13" name="Text 11"/>
          <p:cNvSpPr txBox="1"/>
          <p:nvPr/>
        </p:nvSpPr>
        <p:spPr>
          <a:xfrm>
            <a:off x="6629400" y="1874520"/>
            <a:ext cx="4693615" cy="320040"/>
          </a:xfrm>
          <a:prstGeom prst="rect">
            <a:avLst/>
          </a:prstGeom>
          <a:noFill/>
          <a:ln/>
        </p:spPr>
        <p:txBody>
          <a:bodyPr wrap="square" lIns="0" tIns="0" rIns="0" bIns="0" rtlCol="0" anchor="ctr"/>
          <a:lstStyle/>
          <a:p>
            <a:pPr indent="0" marL="0">
              <a:buNone/>
            </a:pPr>
            <a:r>
              <a:rPr lang="en-US" sz="1500" b="1" dirty="0">
                <a:solidFill>
                  <a:srgbClr val="E2E8F0"/>
                </a:solidFill>
                <a:latin typeface="Calibri" pitchFamily="34" charset="0"/>
                <a:ea typeface="Calibri" pitchFamily="34" charset="-122"/>
                <a:cs typeface="Calibri" pitchFamily="34" charset="-120"/>
              </a:rPr>
              <a:t>Honest scope</a:t>
            </a:r>
            <a:endParaRPr lang="en-US" sz="1500" dirty="0"/>
          </a:p>
        </p:txBody>
      </p:sp>
      <p:sp>
        <p:nvSpPr>
          <p:cNvPr id="14" name="Text 12"/>
          <p:cNvSpPr txBox="1"/>
          <p:nvPr/>
        </p:nvSpPr>
        <p:spPr>
          <a:xfrm>
            <a:off x="6629400" y="2240280"/>
            <a:ext cx="4693615" cy="11887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Working front-end prototype with real fix scripts, real CISA data, tests and OSCAL export. The Microsoft Foundry call is live; Fabric IQ, Foundry IQ and the hosted back end are designed, not yet deployed. Fix scripts are not yet run on a live tenant.</a:t>
            </a:r>
            <a:endParaRPr lang="en-US" sz="1200" dirty="0"/>
          </a:p>
        </p:txBody>
      </p:sp>
      <p:sp>
        <p:nvSpPr>
          <p:cNvPr id="15" name="Shape 13"/>
          <p:cNvSpPr/>
          <p:nvPr/>
        </p:nvSpPr>
        <p:spPr>
          <a:xfrm>
            <a:off x="6309360" y="3703320"/>
            <a:ext cx="5333695" cy="1920240"/>
          </a:xfrm>
          <a:prstGeom prst="roundRect">
            <a:avLst>
              <a:gd name="adj" fmla="val 5714"/>
            </a:avLst>
          </a:prstGeom>
          <a:solidFill>
            <a:srgbClr val="111723"/>
          </a:solidFill>
          <a:ln w="12700">
            <a:solidFill>
              <a:srgbClr val="222B3B"/>
            </a:solidFill>
            <a:prstDash val="solid"/>
          </a:ln>
        </p:spPr>
      </p:sp>
      <p:sp>
        <p:nvSpPr>
          <p:cNvPr id="16" name="Text 14"/>
          <p:cNvSpPr txBox="1"/>
          <p:nvPr/>
        </p:nvSpPr>
        <p:spPr>
          <a:xfrm>
            <a:off x="6629400" y="3886200"/>
            <a:ext cx="4693615" cy="320040"/>
          </a:xfrm>
          <a:prstGeom prst="rect">
            <a:avLst/>
          </a:prstGeom>
          <a:noFill/>
          <a:ln/>
        </p:spPr>
        <p:txBody>
          <a:bodyPr wrap="square" lIns="0" tIns="0" rIns="0" bIns="0" rtlCol="0" anchor="ctr"/>
          <a:lstStyle/>
          <a:p>
            <a:pPr indent="0" marL="0">
              <a:buNone/>
            </a:pPr>
            <a:r>
              <a:rPr lang="en-US" sz="1500" b="1" dirty="0">
                <a:solidFill>
                  <a:srgbClr val="E2E8F0"/>
                </a:solidFill>
                <a:latin typeface="Calibri" pitchFamily="34" charset="0"/>
                <a:ea typeface="Calibri" pitchFamily="34" charset="-122"/>
                <a:cs typeface="Calibri" pitchFamily="34" charset="-120"/>
              </a:rPr>
              <a:t>Next</a:t>
            </a:r>
            <a:endParaRPr lang="en-US" sz="1500" dirty="0"/>
          </a:p>
        </p:txBody>
      </p:sp>
      <p:sp>
        <p:nvSpPr>
          <p:cNvPr id="17" name="Text 15"/>
          <p:cNvSpPr txBox="1"/>
          <p:nvPr/>
        </p:nvSpPr>
        <p:spPr>
          <a:xfrm>
            <a:off x="6629400" y="4251960"/>
            <a:ext cx="4693615" cy="12801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94A3B8"/>
                </a:solidFill>
                <a:latin typeface="Calibri" pitchFamily="34" charset="0"/>
                <a:ea typeface="Calibri" pitchFamily="34" charset="-122"/>
                <a:cs typeface="Calibri" pitchFamily="34" charset="-120"/>
              </a:rPr>
              <a:t>Deploy Fabric IQ + Foundry IQ back end</a:t>
            </a:r>
            <a:endParaRPr lang="en-US" sz="1250" dirty="0"/>
          </a:p>
          <a:p>
            <a:pPr marL="342900" indent="-342900">
              <a:spcAft>
                <a:spcPts val="400"/>
              </a:spcAft>
              <a:buSzPct val="100000"/>
              <a:buChar char="•"/>
            </a:pPr>
            <a:r>
              <a:rPr lang="en-US" sz="1250" dirty="0">
                <a:solidFill>
                  <a:srgbClr val="94A3B8"/>
                </a:solidFill>
                <a:latin typeface="Calibri" pitchFamily="34" charset="0"/>
                <a:ea typeface="Calibri" pitchFamily="34" charset="-122"/>
                <a:cs typeface="Calibri" pitchFamily="34" charset="-120"/>
              </a:rPr>
              <a:t>Entra-authenticated approval workflow</a:t>
            </a:r>
            <a:endParaRPr lang="en-US" sz="1250" dirty="0"/>
          </a:p>
          <a:p>
            <a:pPr marL="342900" indent="-342900">
              <a:spcAft>
                <a:spcPts val="400"/>
              </a:spcAft>
              <a:buSzPct val="100000"/>
              <a:buChar char="•"/>
            </a:pPr>
            <a:r>
              <a:rPr lang="en-US" sz="1250" dirty="0">
                <a:solidFill>
                  <a:srgbClr val="94A3B8"/>
                </a:solidFill>
                <a:latin typeface="Calibri" pitchFamily="34" charset="0"/>
                <a:ea typeface="Calibri" pitchFamily="34" charset="-122"/>
                <a:cs typeface="Calibri" pitchFamily="34" charset="-120"/>
              </a:rPr>
              <a:t>More templates: Exchange, Defender, Teams</a:t>
            </a:r>
            <a:endParaRPr lang="en-US" sz="1250" dirty="0"/>
          </a:p>
          <a:p>
            <a:pPr marL="342900" indent="-342900">
              <a:spcAft>
                <a:spcPts val="400"/>
              </a:spcAft>
              <a:buSzPct val="100000"/>
              <a:buChar char="•"/>
            </a:pPr>
            <a:r>
              <a:rPr lang="en-US" sz="1250" dirty="0">
                <a:solidFill>
                  <a:srgbClr val="94A3B8"/>
                </a:solidFill>
                <a:latin typeface="Calibri" pitchFamily="34" charset="0"/>
                <a:ea typeface="Calibri" pitchFamily="34" charset="-122"/>
                <a:cs typeface="Calibri" pitchFamily="34" charset="-120"/>
              </a:rPr>
              <a:t>Publish the agent to Teams and M365 Copilot</a:t>
            </a:r>
            <a:endParaRPr lang="en-US" sz="1250" dirty="0"/>
          </a:p>
        </p:txBody>
      </p:sp>
      <p:sp>
        <p:nvSpPr>
          <p:cNvPr id="18" name="Text 16"/>
          <p:cNvSpPr txBox="1"/>
          <p:nvPr/>
        </p:nvSpPr>
        <p:spPr>
          <a:xfrm>
            <a:off x="548640" y="5897880"/>
            <a:ext cx="11094415"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  </a:t>
            </a:r>
            <a:pPr algn="ctr" indent="0" marL="0">
              <a:buNone/>
            </a:pPr>
            <a:r>
              <a:rPr lang="en-US" sz="1500" u="sng" dirty="0">
                <a:solidFill>
                  <a:srgbClr val="A78BF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claireluisa.github.io/ScubaLens-AI</a:t>
            </a:r>
            <a:pPr algn="ctr" indent="0" marL="0">
              <a:buNone/>
            </a:pPr>
            <a:r>
              <a:rPr lang="en-US" sz="1500" b="1" dirty="0">
                <a:solidFill>
                  <a:srgbClr val="FFFFFF"/>
                </a:solidFill>
                <a:latin typeface="Calibri" pitchFamily="34" charset="0"/>
                <a:ea typeface="Calibri" pitchFamily="34" charset="-122"/>
                <a:cs typeface="Calibri" pitchFamily="34" charset="-120"/>
              </a:rPr>
              <a:t>     Code:  </a:t>
            </a:r>
            <a:pPr algn="ctr" indent="0" marL="0">
              <a:buNone/>
            </a:pPr>
            <a:r>
              <a:rPr lang="en-US" sz="1500" u="sng" dirty="0">
                <a:solidFill>
                  <a:srgbClr val="A78BF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github.com/Claireluisa/ScubaLens-AI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ScubaLens AI</dc:title>
  <dc:subject>PptxGenJS Presentation</dc:subject>
  <dc:creator>Claire Perrault</dc:creator>
  <cp:lastModifiedBy>Claire Perrault</cp:lastModifiedBy>
  <cp:revision>1</cp:revision>
  <dcterms:created xsi:type="dcterms:W3CDTF">2026-09-26T02:54:55Z</dcterms:created>
  <dcterms:modified xsi:type="dcterms:W3CDTF">2026-09-26T02:54:55Z</dcterms:modified>
</cp:coreProperties>
</file>